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5315-947D-4A4C-A509-A61677E4E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163B3-74D6-472F-8579-FA7A73699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E96DD-7FF9-4C47-96A6-5A9C192790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1CB6-14C0-48B1-8DB6-31D66B3A49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FA57-FCFD-445A-96C2-CD4BDB750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AE85-1B50-4560-86B8-7AE042A6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15E0-530D-43B0-A372-2BF3A6686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46526-63C8-4F4F-83F4-1FA7C6703B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7DAA-B893-43C4-9337-38A7E859A2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BE2-21CC-493D-9814-E06B939DCA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76B6-DD53-40BA-B14B-8B5BD503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DF19B-B4CD-4E46-8800-16CFE979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F93E-C5CA-4B4E-BFEF-DAAB681A08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66AE-98F7-4417-97E1-021AEE30DA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15CE0-E6EA-4EB8-B42C-74E3191CF4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E0E6-E0CE-458D-99C0-06A43D4D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5EEA6-141F-4F86-8D23-BF8E6D5EC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65687-2C6B-4476-A365-8A3A3F2F92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81C89-EF1B-416D-B772-C606CBFCD9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5B5D1-5735-4B88-AFB1-4D6C85F6C1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40080-3022-4A7F-817A-E355AA4740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4EA7-48D3-427A-BFD6-49B542CF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B8350-F3BE-492C-A7D9-80F6AF0F1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618F6-CFAA-4A6A-A08B-2E50F7D87DE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90F2C3-CB88-4EAF-938C-B1886F1A86A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B4859-C9F9-46BB-A71C-D9D9ACE37A7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01CE0-45FF-4B03-87B4-BBFFDB7876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CA6B7-6515-4DDD-82E7-85BA6544AE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3E696-5A45-48DD-B140-598BE77A12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31F5-12DC-4B71-A4E7-7F43CB70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36962-E7DE-45C6-86AB-86868B72AC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3CA60-B1CA-4FE6-B9DB-D81662DAFE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F25A3-B1D4-454C-B9BC-351D0DE299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39CA33-B9A8-417F-B89A-156C458D3F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894188-4A1A-4332-879F-4714009E37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0365A-154D-4AE2-B7B3-F7E18DF2E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ADD9-BA0D-447F-8911-61490498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82C8-E3C0-40D0-A3DC-46BF0BE85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D557B-049B-4D38-B16D-8BDB6CA10E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09F4B-638B-40F0-8D8D-BB5C5840B1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38F90-33EE-4262-9995-2C31869A2E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3C40-3F46-4C9F-8B35-45115025AE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07E0-18E0-4FB6-B1ED-7D6677E1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F8D14-0F94-4660-936D-A923B895E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B3E53-7E49-49E4-AA35-0525DC0A86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5E3FB-D111-42E8-9F6D-7ADA4EA71B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F1742-FC22-402C-AAC1-30DAAF853D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02AB4-FA65-4BF8-BAA9-7C586022F7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AE17-D45F-4551-A330-01D7ED92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63E08-FB42-41AD-A944-93003E3E8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D924B-02A3-405D-A8C7-EEDFB94477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5A8E5-7B46-485D-A448-386488F612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4450-E7B1-47F3-BB66-6EAF4509E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ADD65-CB70-4623-952F-D6BE764C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F4074-9E7E-4590-8FE7-93C7F21C8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BBD0F-A168-4550-99D7-65B9D13C51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F2ED8-1CEB-4E54-AB80-51FEF43916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0610E-A1B7-4E13-9CDE-4FCAA74F5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D56D2-06A1-4BF9-B05B-C6D8A331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B9150-EC62-44D8-ABEF-8B8E970AE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D6529-D870-4A5F-89CF-16800430584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FA653-D540-4124-BEAD-A1C1958B3CD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FFB17-0E52-4A3D-BDF0-B6ECFEC8FA2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6A69280-F6FA-4AA4-B9AA-B496394336F3}"/>
              </a:ext>
            </a:extLst>
          </p:cNvPr>
          <p:cNvSpPr>
            <a:spLocks noGrp="1"/>
          </p:cNvSpPr>
          <p:nvPr/>
        </p:nvSpPr>
        <p:spPr>
          <a:xfrm>
            <a:off x="9281160" y="594360"/>
            <a:ext cx="2286000" cy="2286000"/>
          </a:xfrm>
          <a:prstGeom prst="ellipse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0717DA-F04B-4373-959A-2F5A2F5AEAF2}"/>
              </a:ext>
            </a:extLst>
          </p:cNvPr>
          <p:cNvSpPr>
            <a:spLocks noGrp="1"/>
          </p:cNvSpPr>
          <p:nvPr/>
        </p:nvSpPr>
        <p:spPr>
          <a:xfrm>
            <a:off x="10241280" y="1965960"/>
            <a:ext cx="1508760" cy="1508760"/>
          </a:xfrm>
          <a:prstGeom prst="ellipse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1892AA-01EF-4849-9A32-7282E50FF2BD}"/>
              </a:ext>
            </a:extLst>
          </p:cNvPr>
          <p:cNvSpPr>
            <a:spLocks noGrp="1"/>
          </p:cNvSpPr>
          <p:nvPr/>
        </p:nvSpPr>
        <p:spPr>
          <a:xfrm>
            <a:off x="8732520" y="2834640"/>
            <a:ext cx="1051560" cy="1051560"/>
          </a:xfrm>
          <a:prstGeom prst="ellipse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65F91-19C9-4E86-A0D9-137F19CD6EA0}"/>
              </a:ext>
            </a:extLst>
          </p:cNvPr>
          <p:cNvSpPr>
            <a:spLocks noGrp="1"/>
          </p:cNvSpPr>
          <p:nvPr/>
        </p:nvSpPr>
        <p:spPr>
          <a:xfrm>
            <a:off x="777240" y="868680"/>
            <a:ext cx="79552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CB0BE"/>
                </a:solidFill>
                <a:latin typeface="Aptos"/>
                <a:ea typeface="Aptos"/>
                <a:cs typeface="Aptos"/>
              </a:rPr>
              <a:t>SIH / FORUM PITCH  •  CLOUD FINANCIAL GOVERNANCE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41CAB-927A-4325-9B6F-8C15E587A015}"/>
              </a:ext>
            </a:extLst>
          </p:cNvPr>
          <p:cNvSpPr>
            <a:spLocks noGrp="1"/>
          </p:cNvSpPr>
          <p:nvPr/>
        </p:nvSpPr>
        <p:spPr>
          <a:xfrm>
            <a:off x="749808" y="1508760"/>
            <a:ext cx="813816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clouDBills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C88A9-77DA-4BFB-8C8F-375E2D07BF6C}"/>
              </a:ext>
            </a:extLst>
          </p:cNvPr>
          <p:cNvSpPr>
            <a:spLocks noGrp="1"/>
          </p:cNvSpPr>
          <p:nvPr/>
        </p:nvSpPr>
        <p:spPr>
          <a:xfrm>
            <a:off x="786384" y="2395728"/>
            <a:ext cx="7955279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cloud spending visible, accountable and optimizable.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2B01E-AB72-46D5-8EC1-C8759B5D61CB}"/>
              </a:ext>
            </a:extLst>
          </p:cNvPr>
          <p:cNvSpPr>
            <a:spLocks noGrp="1"/>
          </p:cNvSpPr>
          <p:nvPr/>
        </p:nvSpPr>
        <p:spPr>
          <a:xfrm>
            <a:off x="804672" y="3255264"/>
            <a:ext cx="704088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CFDBEA"/>
                </a:solidFill>
                <a:latin typeface="Aptos"/>
                <a:ea typeface="Aptos"/>
                <a:cs typeface="Aptos"/>
              </a:rPr>
              <a:t>A PostgreSQL-based system that connects cloud bills to the resources, teams and decisions behind them—and tracks whether savings actually happen.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C84A88-3A74-42C2-BC0D-EAF1B3DF966C}"/>
              </a:ext>
            </a:extLst>
          </p:cNvPr>
          <p:cNvSpPr>
            <a:spLocks noGrp="1"/>
          </p:cNvSpPr>
          <p:nvPr/>
        </p:nvSpPr>
        <p:spPr>
          <a:xfrm>
            <a:off x="822960" y="4956048"/>
            <a:ext cx="1965960" cy="777240"/>
          </a:xfrm>
          <a:prstGeom prst="roundRect">
            <a:avLst/>
          </a:prstGeom>
          <a:solidFill>
            <a:srgbClr val="193151"/>
          </a:solidFill>
          <a:ln w="10160">
            <a:solidFill>
              <a:srgbClr val="39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49E63-0FB3-487E-ACA1-AB8BD238405C}"/>
              </a:ext>
            </a:extLst>
          </p:cNvPr>
          <p:cNvSpPr>
            <a:spLocks noGrp="1"/>
          </p:cNvSpPr>
          <p:nvPr/>
        </p:nvSpPr>
        <p:spPr>
          <a:xfrm>
            <a:off x="914400" y="5074920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965DE-02FF-4EDB-95DA-4F130CEC4F78}"/>
              </a:ext>
            </a:extLst>
          </p:cNvPr>
          <p:cNvSpPr>
            <a:spLocks noGrp="1"/>
          </p:cNvSpPr>
          <p:nvPr/>
        </p:nvSpPr>
        <p:spPr>
          <a:xfrm>
            <a:off x="914400" y="5404104"/>
            <a:ext cx="17830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C0D2E6"/>
                </a:solidFill>
                <a:latin typeface="Aptos"/>
                <a:ea typeface="Aptos"/>
                <a:cs typeface="Aptos"/>
              </a:rPr>
              <a:t>relational entities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5065E85-9A3F-4D4A-B4A6-E7A0E7703EEE}"/>
              </a:ext>
            </a:extLst>
          </p:cNvPr>
          <p:cNvSpPr>
            <a:spLocks noGrp="1"/>
          </p:cNvSpPr>
          <p:nvPr/>
        </p:nvSpPr>
        <p:spPr>
          <a:xfrm>
            <a:off x="3063240" y="4956048"/>
            <a:ext cx="1965960" cy="777240"/>
          </a:xfrm>
          <a:prstGeom prst="roundRect">
            <a:avLst/>
          </a:prstGeom>
          <a:solidFill>
            <a:srgbClr val="193151"/>
          </a:solidFill>
          <a:ln w="10160">
            <a:solidFill>
              <a:srgbClr val="39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49D8D-5C47-42BD-AB96-8E9F5061EB0D}"/>
              </a:ext>
            </a:extLst>
          </p:cNvPr>
          <p:cNvSpPr>
            <a:spLocks noGrp="1"/>
          </p:cNvSpPr>
          <p:nvPr/>
        </p:nvSpPr>
        <p:spPr>
          <a:xfrm>
            <a:off x="3154680" y="5074920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BCF66-9775-4CDF-9069-C8D096AD5172}"/>
              </a:ext>
            </a:extLst>
          </p:cNvPr>
          <p:cNvSpPr>
            <a:spLocks noGrp="1"/>
          </p:cNvSpPr>
          <p:nvPr/>
        </p:nvSpPr>
        <p:spPr>
          <a:xfrm>
            <a:off x="3154680" y="5404104"/>
            <a:ext cx="17830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C0D2E6"/>
                </a:solidFill>
                <a:latin typeface="Aptos"/>
                <a:ea typeface="Aptos"/>
                <a:cs typeface="Aptos"/>
              </a:rPr>
              <a:t>ER relationships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44EF43-D456-4359-A32D-D7CCFA4C3A0A}"/>
              </a:ext>
            </a:extLst>
          </p:cNvPr>
          <p:cNvSpPr>
            <a:spLocks noGrp="1"/>
          </p:cNvSpPr>
          <p:nvPr/>
        </p:nvSpPr>
        <p:spPr>
          <a:xfrm>
            <a:off x="5303520" y="4956048"/>
            <a:ext cx="1965960" cy="777240"/>
          </a:xfrm>
          <a:prstGeom prst="roundRect">
            <a:avLst/>
          </a:prstGeom>
          <a:solidFill>
            <a:srgbClr val="193151"/>
          </a:solidFill>
          <a:ln w="10160">
            <a:solidFill>
              <a:srgbClr val="39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15AB86-6E64-4281-9ED6-1A98D8A8311B}"/>
              </a:ext>
            </a:extLst>
          </p:cNvPr>
          <p:cNvSpPr>
            <a:spLocks noGrp="1"/>
          </p:cNvSpPr>
          <p:nvPr/>
        </p:nvSpPr>
        <p:spPr>
          <a:xfrm>
            <a:off x="5394960" y="5074920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3NF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F6962A-4E1D-46C2-B24B-3FAA5B857166}"/>
              </a:ext>
            </a:extLst>
          </p:cNvPr>
          <p:cNvSpPr>
            <a:spLocks noGrp="1"/>
          </p:cNvSpPr>
          <p:nvPr/>
        </p:nvSpPr>
        <p:spPr>
          <a:xfrm>
            <a:off x="5394960" y="5404104"/>
            <a:ext cx="17830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C0D2E6"/>
                </a:solidFill>
                <a:latin typeface="Aptos"/>
                <a:ea typeface="Aptos"/>
                <a:cs typeface="Aptos"/>
              </a:rPr>
              <a:t>normalized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0C3C3-26D6-4D9F-BBD3-20D604E07595}"/>
              </a:ext>
            </a:extLst>
          </p:cNvPr>
          <p:cNvSpPr>
            <a:spLocks noGrp="1"/>
          </p:cNvSpPr>
          <p:nvPr/>
        </p:nvSpPr>
        <p:spPr>
          <a:xfrm>
            <a:off x="822960" y="6263640"/>
            <a:ext cx="7498079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A9BED6"/>
                </a:solidFill>
                <a:latin typeface="Aptos"/>
                <a:ea typeface="Aptos"/>
                <a:cs typeface="Aptos"/>
              </a:rPr>
              <a:t>PROJECT OVERVIEW  |  PostgreSQL 15+</a:t>
            </a:r>
          </a:p>
        </p:txBody>
      </p:sp>
    </p:spTree>
    <p:extLst>
      <p:ext uri="{BB962C8B-B14F-4D97-AF65-F5344CB8AC3E}">
        <p14:creationId xmlns:p14="http://schemas.microsoft.com/office/powerpoint/2010/main" val="145881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5E41D-7394-493D-B83C-42C21A77582B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The problem: cloud bills show the cost, not always the cause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23785-DC9F-48F1-B04C-4D0CC314490E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Teams can see what they paid, but may not know which resources created waste or who should act.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44A065-4FAE-4EB0-837D-77C5FB3518DF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5492A-3115-4B93-B38F-0B0470124DFA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175FBF-A42D-40A8-A149-CCC1022B7097}"/>
              </a:ext>
            </a:extLst>
          </p:cNvPr>
          <p:cNvSpPr>
            <a:spLocks noGrp="1"/>
          </p:cNvSpPr>
          <p:nvPr/>
        </p:nvSpPr>
        <p:spPr>
          <a:xfrm>
            <a:off x="685800" y="1554480"/>
            <a:ext cx="35204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228E0-D140-4FEC-8A19-27456CFEDD8D}"/>
              </a:ext>
            </a:extLst>
          </p:cNvPr>
          <p:cNvSpPr>
            <a:spLocks noGrp="1"/>
          </p:cNvSpPr>
          <p:nvPr/>
        </p:nvSpPr>
        <p:spPr>
          <a:xfrm>
            <a:off x="685800" y="1554480"/>
            <a:ext cx="73152" cy="1965960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4F937-078D-4ADE-8236-E7CB7C44D2F0}"/>
              </a:ext>
            </a:extLst>
          </p:cNvPr>
          <p:cNvSpPr>
            <a:spLocks noGrp="1"/>
          </p:cNvSpPr>
          <p:nvPr/>
        </p:nvSpPr>
        <p:spPr>
          <a:xfrm>
            <a:off x="868680" y="1682495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Idle compute keeps billing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782B3-9AF4-49A8-AB8E-41D3859466FD}"/>
              </a:ext>
            </a:extLst>
          </p:cNvPr>
          <p:cNvSpPr>
            <a:spLocks noGrp="1"/>
          </p:cNvSpPr>
          <p:nvPr/>
        </p:nvSpPr>
        <p:spPr>
          <a:xfrm>
            <a:off x="868680" y="2029967"/>
            <a:ext cx="3191256" cy="14081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A development server can keep costing money overnight even when almost nobody is using it.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8EDF2C-2A10-4EAF-BA87-BA59F386A8EF}"/>
              </a:ext>
            </a:extLst>
          </p:cNvPr>
          <p:cNvSpPr>
            <a:spLocks noGrp="1"/>
          </p:cNvSpPr>
          <p:nvPr/>
        </p:nvSpPr>
        <p:spPr>
          <a:xfrm>
            <a:off x="4343400" y="1554480"/>
            <a:ext cx="35204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44A7FD-D597-44D9-A196-02481762EAD7}"/>
              </a:ext>
            </a:extLst>
          </p:cNvPr>
          <p:cNvSpPr>
            <a:spLocks noGrp="1"/>
          </p:cNvSpPr>
          <p:nvPr/>
        </p:nvSpPr>
        <p:spPr>
          <a:xfrm>
            <a:off x="4343400" y="1554480"/>
            <a:ext cx="73152" cy="1965960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4169B-04A0-4D5D-BE9C-71A3A0EF8C6D}"/>
              </a:ext>
            </a:extLst>
          </p:cNvPr>
          <p:cNvSpPr>
            <a:spLocks noGrp="1"/>
          </p:cNvSpPr>
          <p:nvPr/>
        </p:nvSpPr>
        <p:spPr>
          <a:xfrm>
            <a:off x="4526280" y="1682495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Orphaned resources linger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80D7E-24AD-4C17-9A3C-E90D5B2167E4}"/>
              </a:ext>
            </a:extLst>
          </p:cNvPr>
          <p:cNvSpPr>
            <a:spLocks noGrp="1"/>
          </p:cNvSpPr>
          <p:nvPr/>
        </p:nvSpPr>
        <p:spPr>
          <a:xfrm>
            <a:off x="4526280" y="2029967"/>
            <a:ext cx="3191256" cy="14081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Storage volumes, snapshots or static IPs can remain after the resource they belonged to is gone.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3E7AD4-ACDE-4D6D-965D-F645848FD480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5204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3C0F78-156F-4589-BDF7-F14993EE4390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73152" cy="1965960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F7F10B-564E-4E4C-8A1F-5C0282493EAA}"/>
              </a:ext>
            </a:extLst>
          </p:cNvPr>
          <p:cNvSpPr>
            <a:spLocks noGrp="1"/>
          </p:cNvSpPr>
          <p:nvPr/>
        </p:nvSpPr>
        <p:spPr>
          <a:xfrm>
            <a:off x="8183879" y="1682495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Ownership is unclear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E69C62-AEB0-4859-BD87-3047E2419E22}"/>
              </a:ext>
            </a:extLst>
          </p:cNvPr>
          <p:cNvSpPr>
            <a:spLocks noGrp="1"/>
          </p:cNvSpPr>
          <p:nvPr/>
        </p:nvSpPr>
        <p:spPr>
          <a:xfrm>
            <a:off x="8183879" y="2029967"/>
            <a:ext cx="3191256" cy="14081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Missing tags and shared infrastructure make it difficult to attribute a bill to the right project or team.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8F15328-034E-47BF-8095-24882B6BBB4B}"/>
              </a:ext>
            </a:extLst>
          </p:cNvPr>
          <p:cNvSpPr>
            <a:spLocks noGrp="1"/>
          </p:cNvSpPr>
          <p:nvPr/>
        </p:nvSpPr>
        <p:spPr>
          <a:xfrm>
            <a:off x="777240" y="3977639"/>
            <a:ext cx="10652760" cy="1188720"/>
          </a:xfrm>
          <a:prstGeom prst="roundRect">
            <a:avLst/>
          </a:prstGeom>
          <a:solidFill>
            <a:srgbClr val="0F2039"/>
          </a:solidFill>
          <a:ln w="10160">
            <a:solidFill>
              <a:srgbClr val="0F2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FC0673-C1B2-43D9-A9C2-626840B3A0CE}"/>
              </a:ext>
            </a:extLst>
          </p:cNvPr>
          <p:cNvSpPr>
            <a:spLocks noGrp="1"/>
          </p:cNvSpPr>
          <p:nvPr/>
        </p:nvSpPr>
        <p:spPr>
          <a:xfrm>
            <a:off x="1051560" y="4178808"/>
            <a:ext cx="192024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CB0BE"/>
                </a:solidFill>
                <a:latin typeface="Aptos"/>
                <a:ea typeface="Aptos"/>
                <a:cs typeface="Aptos"/>
              </a:rPr>
              <a:t>The hidden risk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D4E09B-4743-4E4B-87D7-E882E90C7A1A}"/>
              </a:ext>
            </a:extLst>
          </p:cNvPr>
          <p:cNvSpPr>
            <a:spLocks noGrp="1"/>
          </p:cNvSpPr>
          <p:nvPr/>
        </p:nvSpPr>
        <p:spPr>
          <a:xfrm>
            <a:off x="2926080" y="4142232"/>
            <a:ext cx="804672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cost report alone does not safely fix the problem: a resource may have dependencies, an action may need approval, and estimated savings may never become real savings.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A7813-77F1-41B3-B204-9250DEB5A3A5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73263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E7AFE-27E3-4057-B146-DC6F8B82F63F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The solution: connect spending to safe, measurable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64314-EBA6-4031-9DA6-64DB64BF0FD9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is a cloud-cost governance database—not just another bill viewer.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152D4A-D77B-4B25-9ACC-95364FB86706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D7F31-5D18-4B64-8643-4FE65CBB01B5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4EC791-CB87-419D-94F2-50D6B5D0B6B2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5257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C03AB5-E818-4D15-9DF3-8E62159EFAAD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73152" cy="1417320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3BD07-60A6-404C-8C25-192FB2ACDC26}"/>
              </a:ext>
            </a:extLst>
          </p:cNvPr>
          <p:cNvSpPr>
            <a:spLocks noGrp="1"/>
          </p:cNvSpPr>
          <p:nvPr/>
        </p:nvSpPr>
        <p:spPr>
          <a:xfrm>
            <a:off x="896112" y="1636776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One connected picture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53A1E-8151-4D99-9F98-A8463932C20E}"/>
              </a:ext>
            </a:extLst>
          </p:cNvPr>
          <p:cNvSpPr>
            <a:spLocks noGrp="1"/>
          </p:cNvSpPr>
          <p:nvPr/>
        </p:nvSpPr>
        <p:spPr>
          <a:xfrm>
            <a:off x="896112" y="1984248"/>
            <a:ext cx="4928616" cy="8595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Relate provider accounts, cloud resources, projects, teams, usage metrics and billing records in one relational model.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7A4932F-96AE-4C77-A098-0232D05BD842}"/>
              </a:ext>
            </a:extLst>
          </p:cNvPr>
          <p:cNvSpPr>
            <a:spLocks noGrp="1"/>
          </p:cNvSpPr>
          <p:nvPr/>
        </p:nvSpPr>
        <p:spPr>
          <a:xfrm>
            <a:off x="6199632" y="1508760"/>
            <a:ext cx="5257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EB7DD6-F43B-40D3-9B27-E8D658CD01D8}"/>
              </a:ext>
            </a:extLst>
          </p:cNvPr>
          <p:cNvSpPr>
            <a:spLocks noGrp="1"/>
          </p:cNvSpPr>
          <p:nvPr/>
        </p:nvSpPr>
        <p:spPr>
          <a:xfrm>
            <a:off x="6199632" y="1508760"/>
            <a:ext cx="73152" cy="1417320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0E434-DCD4-4DF2-A2B5-3BED0BD93EDD}"/>
              </a:ext>
            </a:extLst>
          </p:cNvPr>
          <p:cNvSpPr>
            <a:spLocks noGrp="1"/>
          </p:cNvSpPr>
          <p:nvPr/>
        </p:nvSpPr>
        <p:spPr>
          <a:xfrm>
            <a:off x="6382512" y="1636776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Evidence-backed 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3728A-5BBA-496E-9748-B0CD55AF9B08}"/>
              </a:ext>
            </a:extLst>
          </p:cNvPr>
          <p:cNvSpPr>
            <a:spLocks noGrp="1"/>
          </p:cNvSpPr>
          <p:nvPr/>
        </p:nvSpPr>
        <p:spPr>
          <a:xfrm>
            <a:off x="6382512" y="1984248"/>
            <a:ext cx="4928616" cy="8595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Find likely waste from utilization and resource relationships, then show the measurements behind each recommendation.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5ABDD05-624E-47B0-92F2-DDFBE89C49C2}"/>
              </a:ext>
            </a:extLst>
          </p:cNvPr>
          <p:cNvSpPr>
            <a:spLocks noGrp="1"/>
          </p:cNvSpPr>
          <p:nvPr/>
        </p:nvSpPr>
        <p:spPr>
          <a:xfrm>
            <a:off x="713232" y="3246120"/>
            <a:ext cx="5257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13D0E7-11DA-43EC-B738-3E65F22D21BF}"/>
              </a:ext>
            </a:extLst>
          </p:cNvPr>
          <p:cNvSpPr>
            <a:spLocks noGrp="1"/>
          </p:cNvSpPr>
          <p:nvPr/>
        </p:nvSpPr>
        <p:spPr>
          <a:xfrm>
            <a:off x="713232" y="3246120"/>
            <a:ext cx="73152" cy="1417320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DB2046-76D6-451C-A214-95F8BA4FAB51}"/>
              </a:ext>
            </a:extLst>
          </p:cNvPr>
          <p:cNvSpPr>
            <a:spLocks noGrp="1"/>
          </p:cNvSpPr>
          <p:nvPr/>
        </p:nvSpPr>
        <p:spPr>
          <a:xfrm>
            <a:off x="896112" y="3374136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Controlled decisions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0B772-6E1F-4A06-B707-DEB471F01D7C}"/>
              </a:ext>
            </a:extLst>
          </p:cNvPr>
          <p:cNvSpPr>
            <a:spLocks noGrp="1"/>
          </p:cNvSpPr>
          <p:nvPr/>
        </p:nvSpPr>
        <p:spPr>
          <a:xfrm>
            <a:off x="896112" y="3721608"/>
            <a:ext cx="4928616" cy="8595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Route proposed changes through a review process that prevents duplicate pending approvals and records who decided what.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F4A3BDB-F4EA-49F2-A545-A721AB59C6A3}"/>
              </a:ext>
            </a:extLst>
          </p:cNvPr>
          <p:cNvSpPr>
            <a:spLocks noGrp="1"/>
          </p:cNvSpPr>
          <p:nvPr/>
        </p:nvSpPr>
        <p:spPr>
          <a:xfrm>
            <a:off x="6199632" y="3246120"/>
            <a:ext cx="5257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E622FA-109D-4391-AB5B-D39D1D72DA0F}"/>
              </a:ext>
            </a:extLst>
          </p:cNvPr>
          <p:cNvSpPr>
            <a:spLocks noGrp="1"/>
          </p:cNvSpPr>
          <p:nvPr/>
        </p:nvSpPr>
        <p:spPr>
          <a:xfrm>
            <a:off x="6199632" y="3246120"/>
            <a:ext cx="73152" cy="1417320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87B2C1-E9E9-4056-97C3-8BD4A84198C4}"/>
              </a:ext>
            </a:extLst>
          </p:cNvPr>
          <p:cNvSpPr>
            <a:spLocks noGrp="1"/>
          </p:cNvSpPr>
          <p:nvPr/>
        </p:nvSpPr>
        <p:spPr>
          <a:xfrm>
            <a:off x="6382512" y="3374136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Savings you can verify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5B09DD-2635-4A65-9EFB-9AEE038720D5}"/>
              </a:ext>
            </a:extLst>
          </p:cNvPr>
          <p:cNvSpPr>
            <a:spLocks noGrp="1"/>
          </p:cNvSpPr>
          <p:nvPr/>
        </p:nvSpPr>
        <p:spPr>
          <a:xfrm>
            <a:off x="6382512" y="3721608"/>
            <a:ext cx="4928616" cy="8595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Compare baseline cost with the cost after an action, so teams can distinguish projected savings from realized savings.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F2CD923-8D45-41F4-B3FE-C1079A522B51}"/>
              </a:ext>
            </a:extLst>
          </p:cNvPr>
          <p:cNvSpPr>
            <a:spLocks noGrp="1"/>
          </p:cNvSpPr>
          <p:nvPr/>
        </p:nvSpPr>
        <p:spPr>
          <a:xfrm>
            <a:off x="1051560" y="5166360"/>
            <a:ext cx="10058400" cy="530352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6BD302-74C0-40BD-9DBE-23C61DE671B5}"/>
              </a:ext>
            </a:extLst>
          </p:cNvPr>
          <p:cNvSpPr>
            <a:spLocks noGrp="1"/>
          </p:cNvSpPr>
          <p:nvPr/>
        </p:nvSpPr>
        <p:spPr>
          <a:xfrm>
            <a:off x="1280160" y="5294376"/>
            <a:ext cx="96012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Outcome: find waste → understand the evidence → approve safely → measure the financial result.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E97BCD-DA19-46E4-B0C6-E442AD5D2DB8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72855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72E016-2E6B-44E4-87E6-C4D023B9FBEE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How we achieve the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6C5AF-2409-42EA-9376-A05F60D58E96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Each stage has a concrete job: turn raw cloud records into a traceable, reviewed and measurable decision.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DFC4F-6A2F-4F45-8964-253463D473EE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A79D0-570D-41E4-B5E6-3BEB04A882F5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2B463-91D1-4841-A2F4-BB073C57F4BC}"/>
              </a:ext>
            </a:extLst>
          </p:cNvPr>
          <p:cNvSpPr>
            <a:spLocks noGrp="1"/>
          </p:cNvSpPr>
          <p:nvPr/>
        </p:nvSpPr>
        <p:spPr>
          <a:xfrm>
            <a:off x="658368" y="1481328"/>
            <a:ext cx="34930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37C6B-8D76-46DB-8451-503AF6ADF3B4}"/>
              </a:ext>
            </a:extLst>
          </p:cNvPr>
          <p:cNvSpPr>
            <a:spLocks noGrp="1"/>
          </p:cNvSpPr>
          <p:nvPr/>
        </p:nvSpPr>
        <p:spPr>
          <a:xfrm>
            <a:off x="658368" y="1481328"/>
            <a:ext cx="73152" cy="166420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FD34F-B6F8-469E-B3E2-E95BF1080B64}"/>
              </a:ext>
            </a:extLst>
          </p:cNvPr>
          <p:cNvSpPr>
            <a:spLocks noGrp="1"/>
          </p:cNvSpPr>
          <p:nvPr/>
        </p:nvSpPr>
        <p:spPr>
          <a:xfrm>
            <a:off x="841247" y="1609344"/>
            <a:ext cx="317296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1  Bring the bills 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9670B-9D5B-4611-9AE4-713E797A808C}"/>
              </a:ext>
            </a:extLst>
          </p:cNvPr>
          <p:cNvSpPr>
            <a:spLocks noGrp="1"/>
          </p:cNvSpPr>
          <p:nvPr/>
        </p:nvSpPr>
        <p:spPr>
          <a:xfrm>
            <a:off x="841247" y="1956816"/>
            <a:ext cx="3163824" cy="11064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50">
                <a:solidFill>
                  <a:srgbClr val="202F42"/>
                </a:solidFill>
                <a:latin typeface="Aptos"/>
                <a:ea typeface="Aptos"/>
                <a:cs typeface="Aptos"/>
              </a:rPr>
              <a:t>Input: one CSV row per billed usage item. Include provider_name, external_account_id, external_resource_id (if known), service_name, usage_start, usage_end, usage_quantity, billed_cost and currency_code.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E0ED5B-A82E-4F68-8778-6D238D6D8662}"/>
              </a:ext>
            </a:extLst>
          </p:cNvPr>
          <p:cNvSpPr>
            <a:spLocks noGrp="1"/>
          </p:cNvSpPr>
          <p:nvPr/>
        </p:nvSpPr>
        <p:spPr>
          <a:xfrm>
            <a:off x="4498848" y="1481328"/>
            <a:ext cx="34930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3EFECD-788E-4014-891A-4BB627D23A61}"/>
              </a:ext>
            </a:extLst>
          </p:cNvPr>
          <p:cNvSpPr>
            <a:spLocks noGrp="1"/>
          </p:cNvSpPr>
          <p:nvPr/>
        </p:nvSpPr>
        <p:spPr>
          <a:xfrm>
            <a:off x="4498848" y="1481328"/>
            <a:ext cx="73152" cy="166420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06DEC-F805-4213-AD23-4760C3C89DED}"/>
              </a:ext>
            </a:extLst>
          </p:cNvPr>
          <p:cNvSpPr>
            <a:spLocks noGrp="1"/>
          </p:cNvSpPr>
          <p:nvPr/>
        </p:nvSpPr>
        <p:spPr>
          <a:xfrm>
            <a:off x="4681728" y="1609344"/>
            <a:ext cx="317296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2  Check every 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B56C1-BE53-4895-9E54-68D8E8DD69C4}"/>
              </a:ext>
            </a:extLst>
          </p:cNvPr>
          <p:cNvSpPr>
            <a:spLocks noGrp="1"/>
          </p:cNvSpPr>
          <p:nvPr/>
        </p:nvSpPr>
        <p:spPr>
          <a:xfrm>
            <a:off x="4681728" y="1956816"/>
            <a:ext cx="3163824" cy="11064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50">
                <a:solidFill>
                  <a:srgbClr val="202F42"/>
                </a:solidFill>
                <a:latin typeface="Aptos"/>
                <a:ea typeface="Aptos"/>
                <a:cs typeface="Aptos"/>
              </a:rPr>
              <a:t>Map each CSV column to its matching billing_staging TEXT field first. Then cast dates, quantity and cost to typed values; resolve account/resource IDs to internal keys and insert valid rows into billing_records. Send invalid rows and reasons to billing_import_errors.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0C60EEE-C2B6-45DA-8FEC-D1C42A2841D0}"/>
              </a:ext>
            </a:extLst>
          </p:cNvPr>
          <p:cNvSpPr>
            <a:spLocks noGrp="1"/>
          </p:cNvSpPr>
          <p:nvPr/>
        </p:nvSpPr>
        <p:spPr>
          <a:xfrm>
            <a:off x="8339328" y="1481328"/>
            <a:ext cx="34930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F7B457-C4E1-49FC-ADC4-F7EA15262ADD}"/>
              </a:ext>
            </a:extLst>
          </p:cNvPr>
          <p:cNvSpPr>
            <a:spLocks noGrp="1"/>
          </p:cNvSpPr>
          <p:nvPr/>
        </p:nvSpPr>
        <p:spPr>
          <a:xfrm>
            <a:off x="8339328" y="1481328"/>
            <a:ext cx="73152" cy="166420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82D72-D2C0-49C9-BE63-CF4F577BB399}"/>
              </a:ext>
            </a:extLst>
          </p:cNvPr>
          <p:cNvSpPr>
            <a:spLocks noGrp="1"/>
          </p:cNvSpPr>
          <p:nvPr/>
        </p:nvSpPr>
        <p:spPr>
          <a:xfrm>
            <a:off x="8522208" y="1609344"/>
            <a:ext cx="317296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3  Link cost to usage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1EB8F-2A71-4095-9A60-A0D0B4FDBFCA}"/>
              </a:ext>
            </a:extLst>
          </p:cNvPr>
          <p:cNvSpPr>
            <a:spLocks noGrp="1"/>
          </p:cNvSpPr>
          <p:nvPr/>
        </p:nvSpPr>
        <p:spPr>
          <a:xfrm>
            <a:off x="8522208" y="1956816"/>
            <a:ext cx="3163824" cy="11064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Connect billing rows and utilization measurements to resources, projects and teams; summarize large time-series data for faster analysis.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49C32D7-CFB4-4443-B869-A0BE71B214F3}"/>
              </a:ext>
            </a:extLst>
          </p:cNvPr>
          <p:cNvSpPr>
            <a:spLocks noGrp="1"/>
          </p:cNvSpPr>
          <p:nvPr/>
        </p:nvSpPr>
        <p:spPr>
          <a:xfrm>
            <a:off x="658368" y="3538728"/>
            <a:ext cx="34930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3148A1-69FD-44DC-BF29-665D76FAFCEF}"/>
              </a:ext>
            </a:extLst>
          </p:cNvPr>
          <p:cNvSpPr>
            <a:spLocks noGrp="1"/>
          </p:cNvSpPr>
          <p:nvPr/>
        </p:nvSpPr>
        <p:spPr>
          <a:xfrm>
            <a:off x="658368" y="3538728"/>
            <a:ext cx="73152" cy="1664208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837C8-0C12-47B3-B305-9E28BF8B5979}"/>
              </a:ext>
            </a:extLst>
          </p:cNvPr>
          <p:cNvSpPr>
            <a:spLocks noGrp="1"/>
          </p:cNvSpPr>
          <p:nvPr/>
        </p:nvSpPr>
        <p:spPr>
          <a:xfrm>
            <a:off x="841247" y="3666744"/>
            <a:ext cx="317296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4  Find actionable waste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7AE66C-8293-4444-97FA-FF45A8858B42}"/>
              </a:ext>
            </a:extLst>
          </p:cNvPr>
          <p:cNvSpPr>
            <a:spLocks noGrp="1"/>
          </p:cNvSpPr>
          <p:nvPr/>
        </p:nvSpPr>
        <p:spPr>
          <a:xfrm>
            <a:off x="841247" y="4014216"/>
            <a:ext cx="3163824" cy="11064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Run database rules—for example, identify non-production compute with very low CPU over a configured window—and attach evidence.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44A6F27-FD3D-49A5-B631-1A6DCE76B49E}"/>
              </a:ext>
            </a:extLst>
          </p:cNvPr>
          <p:cNvSpPr>
            <a:spLocks noGrp="1"/>
          </p:cNvSpPr>
          <p:nvPr/>
        </p:nvSpPr>
        <p:spPr>
          <a:xfrm>
            <a:off x="4498848" y="3538728"/>
            <a:ext cx="34930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6628DE-9EB8-4D29-89E4-AD9B79B154A3}"/>
              </a:ext>
            </a:extLst>
          </p:cNvPr>
          <p:cNvSpPr>
            <a:spLocks noGrp="1"/>
          </p:cNvSpPr>
          <p:nvPr/>
        </p:nvSpPr>
        <p:spPr>
          <a:xfrm>
            <a:off x="4498848" y="3538728"/>
            <a:ext cx="73152" cy="1664208"/>
          </a:xfrm>
          <a:prstGeom prst="rect">
            <a:avLst/>
          </a:prstGeom>
          <a:solidFill>
            <a:srgbClr val="CD5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D87573-5DE7-4DC6-90E7-0B702B811AA7}"/>
              </a:ext>
            </a:extLst>
          </p:cNvPr>
          <p:cNvSpPr>
            <a:spLocks noGrp="1"/>
          </p:cNvSpPr>
          <p:nvPr/>
        </p:nvSpPr>
        <p:spPr>
          <a:xfrm>
            <a:off x="4681728" y="3666744"/>
            <a:ext cx="317296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5  Review before acting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C0AE4D-94E1-4DAD-BC31-98FD3C216EEB}"/>
              </a:ext>
            </a:extLst>
          </p:cNvPr>
          <p:cNvSpPr>
            <a:spLocks noGrp="1"/>
          </p:cNvSpPr>
          <p:nvPr/>
        </p:nvSpPr>
        <p:spPr>
          <a:xfrm>
            <a:off x="4681728" y="4014216"/>
            <a:ext cx="3163824" cy="11064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Create a recommendation and approval record; lock the recommendation while deciding so two reviewers cannot approve the same action concurrently.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1737CC4-029B-4B1E-B94B-B9FBB860487E}"/>
              </a:ext>
            </a:extLst>
          </p:cNvPr>
          <p:cNvSpPr>
            <a:spLocks noGrp="1"/>
          </p:cNvSpPr>
          <p:nvPr/>
        </p:nvSpPr>
        <p:spPr>
          <a:xfrm>
            <a:off x="8339328" y="3538728"/>
            <a:ext cx="349300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0B4F24-C58E-4D51-A62D-633013BF132F}"/>
              </a:ext>
            </a:extLst>
          </p:cNvPr>
          <p:cNvSpPr>
            <a:spLocks noGrp="1"/>
          </p:cNvSpPr>
          <p:nvPr/>
        </p:nvSpPr>
        <p:spPr>
          <a:xfrm>
            <a:off x="8339328" y="3538728"/>
            <a:ext cx="73152" cy="166420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9F6E49-F560-452A-974C-BB87FD0B0D9B}"/>
              </a:ext>
            </a:extLst>
          </p:cNvPr>
          <p:cNvSpPr>
            <a:spLocks noGrp="1"/>
          </p:cNvSpPr>
          <p:nvPr/>
        </p:nvSpPr>
        <p:spPr>
          <a:xfrm>
            <a:off x="8522208" y="3666744"/>
            <a:ext cx="317296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6  Check the 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29F062-A390-4294-9F34-D0AA4C6B01BB}"/>
              </a:ext>
            </a:extLst>
          </p:cNvPr>
          <p:cNvSpPr>
            <a:spLocks noGrp="1"/>
          </p:cNvSpPr>
          <p:nvPr/>
        </p:nvSpPr>
        <p:spPr>
          <a:xfrm>
            <a:off x="8522208" y="4014216"/>
            <a:ext cx="3163824" cy="11064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Record the action, retain an audit trail, and compare baseline and post-action cost to calculate realized savings.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7EF40E-D1C8-4B17-BB0E-9C8D064DFE42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02F42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4158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E9302-9983-4604-8992-4089C5498731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What goes in—and how each value reaches the right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344BC-1F89-4CFE-A5E8-457585274F72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Billing input is a structured CSV export. The database does not treat the entire row as one blob.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D32E2-DE2A-430C-A7B3-E65E03E94356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3B0EA9-53CA-4641-8EBD-168A797C5C0F}"/>
              </a:ext>
            </a:extLst>
          </p:cNvPr>
          <p:cNvSpPr>
            <a:spLocks noGrp="1"/>
          </p:cNvSpPr>
          <p:nvPr/>
        </p:nvSpPr>
        <p:spPr>
          <a:xfrm>
            <a:off x="658368" y="1481328"/>
            <a:ext cx="3749039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2F063-FC45-4337-92B9-DD18FB55E314}"/>
              </a:ext>
            </a:extLst>
          </p:cNvPr>
          <p:cNvSpPr>
            <a:spLocks noGrp="1"/>
          </p:cNvSpPr>
          <p:nvPr/>
        </p:nvSpPr>
        <p:spPr>
          <a:xfrm>
            <a:off x="868680" y="166420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1  Required billing CSV fields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A54AE-D4ED-4AA5-B9F0-B4201BC890A1}"/>
              </a:ext>
            </a:extLst>
          </p:cNvPr>
          <p:cNvSpPr>
            <a:spLocks noGrp="1"/>
          </p:cNvSpPr>
          <p:nvPr/>
        </p:nvSpPr>
        <p:spPr>
          <a:xfrm>
            <a:off x="914400" y="2084831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provider_name — e.g. AWS / Azure / GCP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83B88-22A2-401F-969A-2ACD25F5C5D9}"/>
              </a:ext>
            </a:extLst>
          </p:cNvPr>
          <p:cNvSpPr>
            <a:spLocks noGrp="1"/>
          </p:cNvSpPr>
          <p:nvPr/>
        </p:nvSpPr>
        <p:spPr>
          <a:xfrm>
            <a:off x="914400" y="2478024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external_account_id — provider account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E2B47-739D-4694-AA32-413CD817FD01}"/>
              </a:ext>
            </a:extLst>
          </p:cNvPr>
          <p:cNvSpPr>
            <a:spLocks noGrp="1"/>
          </p:cNvSpPr>
          <p:nvPr/>
        </p:nvSpPr>
        <p:spPr>
          <a:xfrm>
            <a:off x="914400" y="2871215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external_resource_id — billed resource, if 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1C883-C072-4529-A3DF-99DE223CBB36}"/>
              </a:ext>
            </a:extLst>
          </p:cNvPr>
          <p:cNvSpPr>
            <a:spLocks noGrp="1"/>
          </p:cNvSpPr>
          <p:nvPr/>
        </p:nvSpPr>
        <p:spPr>
          <a:xfrm>
            <a:off x="914400" y="3264408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service_name — service or product billed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759EA-843B-4602-BB10-D8E2814D58C0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usage_start_text / usage_end_text — time window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3E487-8479-4AE3-834F-2692D19DD709}"/>
              </a:ext>
            </a:extLst>
          </p:cNvPr>
          <p:cNvSpPr>
            <a:spLocks noGrp="1"/>
          </p:cNvSpPr>
          <p:nvPr/>
        </p:nvSpPr>
        <p:spPr>
          <a:xfrm>
            <a:off x="914400" y="4050791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usage_quantity_text — units consumed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D01A7-0591-4855-AC6B-376E9085C2BA}"/>
              </a:ext>
            </a:extLst>
          </p:cNvPr>
          <p:cNvSpPr>
            <a:spLocks noGrp="1"/>
          </p:cNvSpPr>
          <p:nvPr/>
        </p:nvSpPr>
        <p:spPr>
          <a:xfrm>
            <a:off x="914400" y="4443983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billed_cost_text — amount charged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A52D6-906C-471D-B020-8FADC6D6DFD5}"/>
              </a:ext>
            </a:extLst>
          </p:cNvPr>
          <p:cNvSpPr>
            <a:spLocks noGrp="1"/>
          </p:cNvSpPr>
          <p:nvPr/>
        </p:nvSpPr>
        <p:spPr>
          <a:xfrm>
            <a:off x="914400" y="4837175"/>
            <a:ext cx="324612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• currency_code_text — e.g. USD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D72B2-56A3-40EC-914A-19CD9064D3D6}"/>
              </a:ext>
            </a:extLst>
          </p:cNvPr>
          <p:cNvSpPr>
            <a:spLocks noGrp="1"/>
          </p:cNvSpPr>
          <p:nvPr/>
        </p:nvSpPr>
        <p:spPr>
          <a:xfrm>
            <a:off x="896112" y="5394960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One CSV row = one billed usage record.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BEC173-9F18-446D-B64D-893AB18419D2}"/>
              </a:ext>
            </a:extLst>
          </p:cNvPr>
          <p:cNvSpPr>
            <a:spLocks noGrp="1"/>
          </p:cNvSpPr>
          <p:nvPr/>
        </p:nvSpPr>
        <p:spPr>
          <a:xfrm>
            <a:off x="4645152" y="1481328"/>
            <a:ext cx="2788920" cy="4480560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C9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7AF5E-A6E6-45ED-AD57-4624C6274393}"/>
              </a:ext>
            </a:extLst>
          </p:cNvPr>
          <p:cNvSpPr>
            <a:spLocks noGrp="1"/>
          </p:cNvSpPr>
          <p:nvPr/>
        </p:nvSpPr>
        <p:spPr>
          <a:xfrm>
            <a:off x="4864608" y="1664208"/>
            <a:ext cx="23317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2  Stage, then map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DE863-D2A8-4A08-BE6E-E6AC52CEF94F}"/>
              </a:ext>
            </a:extLst>
          </p:cNvPr>
          <p:cNvSpPr>
            <a:spLocks noGrp="1"/>
          </p:cNvSpPr>
          <p:nvPr/>
        </p:nvSpPr>
        <p:spPr>
          <a:xfrm>
            <a:off x="4828032" y="2084831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CSV column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24538F-7FBA-493E-96F5-23EC0769F417}"/>
              </a:ext>
            </a:extLst>
          </p:cNvPr>
          <p:cNvSpPr>
            <a:spLocks noGrp="1"/>
          </p:cNvSpPr>
          <p:nvPr/>
        </p:nvSpPr>
        <p:spPr>
          <a:xfrm>
            <a:off x="5925312" y="2084831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Staging field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ED5A37-CE7A-42A0-BC1D-627BD966FC4E}"/>
              </a:ext>
            </a:extLst>
          </p:cNvPr>
          <p:cNvSpPr>
            <a:spLocks noGrp="1"/>
          </p:cNvSpPr>
          <p:nvPr/>
        </p:nvSpPr>
        <p:spPr>
          <a:xfrm>
            <a:off x="4828032" y="2478024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provider_name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EA31F3-B66A-4C33-93A7-E32EEBD520C8}"/>
              </a:ext>
            </a:extLst>
          </p:cNvPr>
          <p:cNvSpPr>
            <a:spLocks noGrp="1"/>
          </p:cNvSpPr>
          <p:nvPr/>
        </p:nvSpPr>
        <p:spPr>
          <a:xfrm>
            <a:off x="5925312" y="2478024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provider_name (TEXT)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FE768B-FF66-451C-AA6D-B46A32AD0D1D}"/>
              </a:ext>
            </a:extLst>
          </p:cNvPr>
          <p:cNvSpPr>
            <a:spLocks noGrp="1"/>
          </p:cNvSpPr>
          <p:nvPr/>
        </p:nvSpPr>
        <p:spPr>
          <a:xfrm>
            <a:off x="4828032" y="2871215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external_account_id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A6188-1124-4E77-B4F7-C22835F6A2FB}"/>
              </a:ext>
            </a:extLst>
          </p:cNvPr>
          <p:cNvSpPr>
            <a:spLocks noGrp="1"/>
          </p:cNvSpPr>
          <p:nvPr/>
        </p:nvSpPr>
        <p:spPr>
          <a:xfrm>
            <a:off x="5925312" y="2871215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external_account_id (TEXT)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47FAE4-D236-4D7C-87E5-C5766FD6B9AD}"/>
              </a:ext>
            </a:extLst>
          </p:cNvPr>
          <p:cNvSpPr>
            <a:spLocks noGrp="1"/>
          </p:cNvSpPr>
          <p:nvPr/>
        </p:nvSpPr>
        <p:spPr>
          <a:xfrm>
            <a:off x="4828032" y="3264408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external_resource_id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FD5288-8379-40A9-BE81-AD9BA79BF4FD}"/>
              </a:ext>
            </a:extLst>
          </p:cNvPr>
          <p:cNvSpPr>
            <a:spLocks noGrp="1"/>
          </p:cNvSpPr>
          <p:nvPr/>
        </p:nvSpPr>
        <p:spPr>
          <a:xfrm>
            <a:off x="5925312" y="3264408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external_resource_id (TEXT)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DDC773-327D-4CB6-B847-96631FD25712}"/>
              </a:ext>
            </a:extLst>
          </p:cNvPr>
          <p:cNvSpPr>
            <a:spLocks noGrp="1"/>
          </p:cNvSpPr>
          <p:nvPr/>
        </p:nvSpPr>
        <p:spPr>
          <a:xfrm>
            <a:off x="4828032" y="3657600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usage_start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E8FD43-8232-4CCE-80FA-B5364C1BA35D}"/>
              </a:ext>
            </a:extLst>
          </p:cNvPr>
          <p:cNvSpPr>
            <a:spLocks noGrp="1"/>
          </p:cNvSpPr>
          <p:nvPr/>
        </p:nvSpPr>
        <p:spPr>
          <a:xfrm>
            <a:off x="5925312" y="3657600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usage_start_text (TEXT)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84FE1-C0AF-40F6-B333-A795914CFBD5}"/>
              </a:ext>
            </a:extLst>
          </p:cNvPr>
          <p:cNvSpPr>
            <a:spLocks noGrp="1"/>
          </p:cNvSpPr>
          <p:nvPr/>
        </p:nvSpPr>
        <p:spPr>
          <a:xfrm>
            <a:off x="4828032" y="4050791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usage_end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920B16-5777-4764-8D28-3AAB351EBE14}"/>
              </a:ext>
            </a:extLst>
          </p:cNvPr>
          <p:cNvSpPr>
            <a:spLocks noGrp="1"/>
          </p:cNvSpPr>
          <p:nvPr/>
        </p:nvSpPr>
        <p:spPr>
          <a:xfrm>
            <a:off x="5925312" y="4050791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usage_end_text (TEXT)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61EB11-26C6-4AD2-B387-15F5713C4B04}"/>
              </a:ext>
            </a:extLst>
          </p:cNvPr>
          <p:cNvSpPr>
            <a:spLocks noGrp="1"/>
          </p:cNvSpPr>
          <p:nvPr/>
        </p:nvSpPr>
        <p:spPr>
          <a:xfrm>
            <a:off x="4828032" y="4443983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quantity / cost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905863-BB97-498E-870C-BAAA438DD572}"/>
              </a:ext>
            </a:extLst>
          </p:cNvPr>
          <p:cNvSpPr>
            <a:spLocks noGrp="1"/>
          </p:cNvSpPr>
          <p:nvPr/>
        </p:nvSpPr>
        <p:spPr>
          <a:xfrm>
            <a:off x="5925312" y="4443983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*_text (TEXT)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0373A1-F184-4BC5-B965-C61995C4BFFC}"/>
              </a:ext>
            </a:extLst>
          </p:cNvPr>
          <p:cNvSpPr>
            <a:spLocks noGrp="1"/>
          </p:cNvSpPr>
          <p:nvPr/>
        </p:nvSpPr>
        <p:spPr>
          <a:xfrm>
            <a:off x="4828032" y="4837175"/>
            <a:ext cx="1115568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currency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6C6846-1365-4A9D-A604-B07F054B003C}"/>
              </a:ext>
            </a:extLst>
          </p:cNvPr>
          <p:cNvSpPr>
            <a:spLocks noGrp="1"/>
          </p:cNvSpPr>
          <p:nvPr/>
        </p:nvSpPr>
        <p:spPr>
          <a:xfrm>
            <a:off x="5925312" y="4837175"/>
            <a:ext cx="1353312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8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currency_code_text (TEXT)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5CDAE0A-0257-413F-AA35-6C6158001AA1}"/>
              </a:ext>
            </a:extLst>
          </p:cNvPr>
          <p:cNvSpPr>
            <a:spLocks noGrp="1"/>
          </p:cNvSpPr>
          <p:nvPr/>
        </p:nvSpPr>
        <p:spPr>
          <a:xfrm>
            <a:off x="7662672" y="1481328"/>
            <a:ext cx="38404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FE43C0-A953-4BF8-8CA9-3E0F504AAA41}"/>
              </a:ext>
            </a:extLst>
          </p:cNvPr>
          <p:cNvSpPr>
            <a:spLocks noGrp="1"/>
          </p:cNvSpPr>
          <p:nvPr/>
        </p:nvSpPr>
        <p:spPr>
          <a:xfrm>
            <a:off x="7882127" y="1664208"/>
            <a:ext cx="34290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3  Validate and write records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F15583-AC01-4EA1-A0CB-EDB3375EBDD7}"/>
              </a:ext>
            </a:extLst>
          </p:cNvPr>
          <p:cNvSpPr>
            <a:spLocks noGrp="1"/>
          </p:cNvSpPr>
          <p:nvPr/>
        </p:nvSpPr>
        <p:spPr>
          <a:xfrm>
            <a:off x="7909560" y="2084831"/>
            <a:ext cx="32461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billing_import_batches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7343B3-A9F4-49A2-852D-DAA4DB8E4A56}"/>
              </a:ext>
            </a:extLst>
          </p:cNvPr>
          <p:cNvSpPr>
            <a:spLocks noGrp="1"/>
          </p:cNvSpPr>
          <p:nvPr/>
        </p:nvSpPr>
        <p:spPr>
          <a:xfrm>
            <a:off x="7909560" y="2331720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Tracks file, account, counts and status.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5D2DED-D2B5-4C94-BF9A-0480F2411603}"/>
              </a:ext>
            </a:extLst>
          </p:cNvPr>
          <p:cNvSpPr>
            <a:spLocks noGrp="1"/>
          </p:cNvSpPr>
          <p:nvPr/>
        </p:nvSpPr>
        <p:spPr>
          <a:xfrm>
            <a:off x="7909560" y="2807208"/>
            <a:ext cx="32461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cloud_accounts / resources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A3EAFA-FEF6-4724-8517-0EC36629ABA7}"/>
              </a:ext>
            </a:extLst>
          </p:cNvPr>
          <p:cNvSpPr>
            <a:spLocks noGrp="1"/>
          </p:cNvSpPr>
          <p:nvPr/>
        </p:nvSpPr>
        <p:spPr>
          <a:xfrm>
            <a:off x="7909560" y="3054096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Resolve provider + external IDs to internal keys.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D8B9F4-9514-49E8-823A-C1446A41CB8E}"/>
              </a:ext>
            </a:extLst>
          </p:cNvPr>
          <p:cNvSpPr>
            <a:spLocks noGrp="1"/>
          </p:cNvSpPr>
          <p:nvPr/>
        </p:nvSpPr>
        <p:spPr>
          <a:xfrm>
            <a:off x="7909560" y="3529584"/>
            <a:ext cx="32461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billing_records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A02B50-9952-4689-AF24-1FCFF1C5D10D}"/>
              </a:ext>
            </a:extLst>
          </p:cNvPr>
          <p:cNvSpPr>
            <a:spLocks noGrp="1"/>
          </p:cNvSpPr>
          <p:nvPr/>
        </p:nvSpPr>
        <p:spPr>
          <a:xfrm>
            <a:off x="7909560" y="3776472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Store typed timestamps, quantity, cost, currency and FK references.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814777-DF77-427F-A2ED-DB65D79ED858}"/>
              </a:ext>
            </a:extLst>
          </p:cNvPr>
          <p:cNvSpPr>
            <a:spLocks noGrp="1"/>
          </p:cNvSpPr>
          <p:nvPr/>
        </p:nvSpPr>
        <p:spPr>
          <a:xfrm>
            <a:off x="7909560" y="4251960"/>
            <a:ext cx="32461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billing_import_errors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EF8E0E-0DC2-4FAB-BC79-D9D3388C2874}"/>
              </a:ext>
            </a:extLst>
          </p:cNvPr>
          <p:cNvSpPr>
            <a:spLocks noGrp="1"/>
          </p:cNvSpPr>
          <p:nvPr/>
        </p:nvSpPr>
        <p:spPr>
          <a:xfrm>
            <a:off x="7909560" y="4498848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Keep rejected row payload + error code/message.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7AD02-D22B-47FB-A18A-01206B5DBE21}"/>
              </a:ext>
            </a:extLst>
          </p:cNvPr>
          <p:cNvSpPr>
            <a:spLocks noGrp="1"/>
          </p:cNvSpPr>
          <p:nvPr/>
        </p:nvSpPr>
        <p:spPr>
          <a:xfrm>
            <a:off x="7909560" y="4974336"/>
            <a:ext cx="32461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usage_metrics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37ACEE-73BC-4096-9EB4-6B54977DF0EF}"/>
              </a:ext>
            </a:extLst>
          </p:cNvPr>
          <p:cNvSpPr>
            <a:spLocks noGrp="1"/>
          </p:cNvSpPr>
          <p:nvPr/>
        </p:nvSpPr>
        <p:spPr>
          <a:xfrm>
            <a:off x="7909560" y="5221223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202F42"/>
                </a:solidFill>
                <a:latin typeface="Aptos"/>
                <a:ea typeface="Aptos"/>
                <a:cs typeface="Aptos"/>
              </a:rPr>
              <a:t>Separate telemetry feed: resource, metric type, timestamp and value.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43D51E-9ACE-46A4-A801-51EC03A8E6E8}"/>
              </a:ext>
            </a:extLst>
          </p:cNvPr>
          <p:cNvSpPr>
            <a:spLocks noGrp="1"/>
          </p:cNvSpPr>
          <p:nvPr/>
        </p:nvSpPr>
        <p:spPr>
          <a:xfrm>
            <a:off x="713232" y="6144768"/>
            <a:ext cx="106984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9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Important: raw CSV columns first land as TEXT in billing_staging; successful rows are cast and inserted into typed billing_records. Invalid rows are quarantined, not silently discarded.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E2A90B-21A4-4F60-8D99-9D9C0E4FA61C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71C9F-424B-4170-B307-9BB7A442604A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98A93B-D31E-409D-93C4-50389999177F}"/>
              </a:ext>
            </a:extLst>
          </p:cNvPr>
          <p:cNvSpPr>
            <a:spLocks noGrp="1"/>
          </p:cNvSpPr>
          <p:nvPr/>
        </p:nvSpPr>
        <p:spPr>
          <a:xfrm>
            <a:off x="7818120" y="5696712"/>
            <a:ext cx="352044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850" b="1">
                <a:solidFill>
                  <a:srgbClr val="2865B0"/>
                </a:solidFill>
                <a:latin typeface="Aptos"/>
                <a:ea typeface="Aptos"/>
                <a:cs typeface="Aptos"/>
              </a:rPr>
              <a:t>Final table fields: usage_start, usage_end, usage_quantity, billed_cost, currency_code + FK IDs</a:t>
            </a:r>
          </a:p>
        </p:txBody>
      </p:sp>
    </p:spTree>
    <p:extLst>
      <p:ext uri="{BB962C8B-B14F-4D97-AF65-F5344CB8AC3E}">
        <p14:creationId xmlns:p14="http://schemas.microsoft.com/office/powerpoint/2010/main" val="125319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3AD151-0DDD-4D11-A6F3-5AC00F4112FD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Entity–relationship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5C90B-8238-495A-8A61-68DBA53B1404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Full model supplied with the project: 33 entities and 48 relationships. Attribute lists follow on the next slides.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BD30AB-5324-4594-A6D8-A918EAB79702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02DDA-2268-4CEB-8FC4-72DB0E439ED4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9EE49-F652-4E69-8B39-C3F5D0CEB7D4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265"/>
          <a:stretch/>
        </p:blipFill>
        <p:spPr>
          <a:xfrm>
            <a:off x="141682" y="1718379"/>
            <a:ext cx="11892212" cy="43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0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971D4-8EE6-48CE-8D6D-290337ECB353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Master &amp;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AD574-0777-4986-9C77-1CF7BC5A3D7D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35A4-677B-4EDE-AAA9-FC5D37BF81CD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C1ADF-F937-4C93-8BA6-9A2AD7EF5A5F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AA6963-160A-4D36-B77F-D5816302F38E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9EC163-AA76-4178-9D99-889674FFC879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EA132-7722-4973-A48A-0C770A1E6E8B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cloud_providers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EB4EA-8D09-47A0-9563-48368EA12356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provider_id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provider_name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api_endpoint_url, is_active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D0CBEB-D58F-4046-BB78-F1995462913A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356237-4B29-46FB-965D-EFB611B8DC33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64008" cy="135331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993F0E-34CE-4A26-860B-E501B1D56ACD}"/>
              </a:ext>
            </a:extLst>
          </p:cNvPr>
          <p:cNvSpPr>
            <a:spLocks noGrp="1"/>
          </p:cNvSpPr>
          <p:nvPr/>
        </p:nvSpPr>
        <p:spPr>
          <a:xfrm>
            <a:off x="6510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cloud_accounts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714ED-B71E-4D0F-8736-D946EA5EBDAA}"/>
              </a:ext>
            </a:extLst>
          </p:cNvPr>
          <p:cNvSpPr>
            <a:spLocks noGrp="1"/>
          </p:cNvSpPr>
          <p:nvPr/>
        </p:nvSpPr>
        <p:spPr>
          <a:xfrm>
            <a:off x="6510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account_id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account_name, external_account_id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29B1B-B091-4908-A1D4-B5D8A2EA273D}"/>
              </a:ext>
            </a:extLst>
          </p:cNvPr>
          <p:cNvSpPr>
            <a:spLocks noGrp="1"/>
          </p:cNvSpPr>
          <p:nvPr/>
        </p:nvSpPr>
        <p:spPr>
          <a:xfrm>
            <a:off x="6510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currency_code, is_active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118C6C-06E2-4880-90ED-38E48772A822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1AF031-2518-4FAD-9A9B-9E43C19AC83E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64008" cy="1353312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82CECC-1466-4B25-AA09-BFA7FDB6D358}"/>
              </a:ext>
            </a:extLst>
          </p:cNvPr>
          <p:cNvSpPr>
            <a:spLocks noGrp="1"/>
          </p:cNvSpPr>
          <p:nvPr/>
        </p:nvSpPr>
        <p:spPr>
          <a:xfrm>
            <a:off x="795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EF93D1-3369-434A-B87F-2D966DA2FD7D}"/>
              </a:ext>
            </a:extLst>
          </p:cNvPr>
          <p:cNvSpPr>
            <a:spLocks noGrp="1"/>
          </p:cNvSpPr>
          <p:nvPr/>
        </p:nvSpPr>
        <p:spPr>
          <a:xfrm>
            <a:off x="795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user_id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email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username, password_hash, first_name, last_name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6CCF66-D672-4A40-9434-9E035FDFF7EA}"/>
              </a:ext>
            </a:extLst>
          </p:cNvPr>
          <p:cNvSpPr>
            <a:spLocks noGrp="1"/>
          </p:cNvSpPr>
          <p:nvPr/>
        </p:nvSpPr>
        <p:spPr>
          <a:xfrm>
            <a:off x="795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is_active, created_at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585CDC0-3DEC-4D09-80A5-5D4D3CE652DF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1CB44A-7FB5-48A9-BE31-41CA95F19FA6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64008" cy="1353312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993800-40C4-433A-AD5E-C24C767D7D16}"/>
              </a:ext>
            </a:extLst>
          </p:cNvPr>
          <p:cNvSpPr>
            <a:spLocks noGrp="1"/>
          </p:cNvSpPr>
          <p:nvPr/>
        </p:nvSpPr>
        <p:spPr>
          <a:xfrm>
            <a:off x="6510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5E2E22-A451-4584-BFFE-8D9EDF31B2F4}"/>
              </a:ext>
            </a:extLst>
          </p:cNvPr>
          <p:cNvSpPr>
            <a:spLocks noGrp="1"/>
          </p:cNvSpPr>
          <p:nvPr/>
        </p:nvSpPr>
        <p:spPr>
          <a:xfrm>
            <a:off x="6510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role_id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role_name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description, permissions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(JSONB)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648091-9694-4E97-87F2-B202C25D9EB8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F14030-F2B4-4910-9C77-D78CEBCB40C5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64008" cy="1353312"/>
          </a:xfrm>
          <a:prstGeom prst="rect">
            <a:avLst/>
          </a:prstGeom>
          <a:solidFill>
            <a:srgbClr val="CD5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7BE90A-833C-4097-89EB-ED4EAD1AEB9C}"/>
              </a:ext>
            </a:extLst>
          </p:cNvPr>
          <p:cNvSpPr>
            <a:spLocks noGrp="1"/>
          </p:cNvSpPr>
          <p:nvPr/>
        </p:nvSpPr>
        <p:spPr>
          <a:xfrm>
            <a:off x="795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user_roles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ED5FBB-1AD3-4E62-952D-B2F2CFB67FC3}"/>
              </a:ext>
            </a:extLst>
          </p:cNvPr>
          <p:cNvSpPr>
            <a:spLocks noGrp="1"/>
          </p:cNvSpPr>
          <p:nvPr/>
        </p:nvSpPr>
        <p:spPr>
          <a:xfrm>
            <a:off x="795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user_id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role_id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assigned_at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AFC3435-D847-46B3-9A62-517B6CB925FD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A4E0A4-BBCE-4750-810C-DC2DB6DDD643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A51993-7313-47C6-887E-D4103D62A3CF}"/>
              </a:ext>
            </a:extLst>
          </p:cNvPr>
          <p:cNvSpPr>
            <a:spLocks noGrp="1"/>
          </p:cNvSpPr>
          <p:nvPr/>
        </p:nvSpPr>
        <p:spPr>
          <a:xfrm>
            <a:off x="6510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teams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4AB206-2798-4346-B3CD-7D764686A00C}"/>
              </a:ext>
            </a:extLst>
          </p:cNvPr>
          <p:cNvSpPr>
            <a:spLocks noGrp="1"/>
          </p:cNvSpPr>
          <p:nvPr/>
        </p:nvSpPr>
        <p:spPr>
          <a:xfrm>
            <a:off x="6510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team_id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team_name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cost_center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manager_user_id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730E93-658E-4A3C-BA29-1530E23F3215}"/>
              </a:ext>
            </a:extLst>
          </p:cNvPr>
          <p:cNvSpPr>
            <a:spLocks noGrp="1"/>
          </p:cNvSpPr>
          <p:nvPr/>
        </p:nvSpPr>
        <p:spPr>
          <a:xfrm>
            <a:off x="6510528" y="510235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created_at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9C267C-4E2D-4D6D-9711-586BD3A8DA04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194F45-C703-4B4D-B955-DE4B70349B1D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203030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9F1B2E-5C36-4234-B486-115DB6628EAF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Master &amp;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72BF4-26EA-4187-9181-69DFC8AE84FA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4D83E3-F828-4FC1-B893-982A2692383C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3F1D7-6E75-4EF4-B857-B5EE56B86D9E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1A8440-470C-4DD9-A632-4B0409A5A214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C45F56-D5F0-4386-80A6-8E32F9EDC176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359B7-57BA-4D40-A0BD-FC15C563E5F9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3DD0A-B2F5-4A88-9EC9-B7312DE8F7E9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project_id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team_id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environment_id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0D479-965A-4327-B452-4DA88D7E2581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description, is_active, created_at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473B55-09FF-4B37-8FE7-AFA891E9DC18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7E6EB-FBE4-4CA8-A1C3-F91C68C909BF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64008" cy="135331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2371CC-3423-4D1A-8C2C-07BE788E2770}"/>
              </a:ext>
            </a:extLst>
          </p:cNvPr>
          <p:cNvSpPr>
            <a:spLocks noGrp="1"/>
          </p:cNvSpPr>
          <p:nvPr/>
        </p:nvSpPr>
        <p:spPr>
          <a:xfrm>
            <a:off x="6510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environments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B7754-A3F7-4CE7-995A-DD62EEE6550A}"/>
              </a:ext>
            </a:extLst>
          </p:cNvPr>
          <p:cNvSpPr>
            <a:spLocks noGrp="1"/>
          </p:cNvSpPr>
          <p:nvPr/>
        </p:nvSpPr>
        <p:spPr>
          <a:xfrm>
            <a:off x="6510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environment_id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environment_code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is_production_grade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E6801D-0981-472F-BA3F-BA04D806A61C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8755D-E33F-4577-A751-4B21CBC3799D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64008" cy="1353312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08719-876B-444A-A090-7E8B1BD0713C}"/>
              </a:ext>
            </a:extLst>
          </p:cNvPr>
          <p:cNvSpPr>
            <a:spLocks noGrp="1"/>
          </p:cNvSpPr>
          <p:nvPr/>
        </p:nvSpPr>
        <p:spPr>
          <a:xfrm>
            <a:off x="795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regions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E6C60F-50D4-4B62-B461-4C8542CAFDD1}"/>
              </a:ext>
            </a:extLst>
          </p:cNvPr>
          <p:cNvSpPr>
            <a:spLocks noGrp="1"/>
          </p:cNvSpPr>
          <p:nvPr/>
        </p:nvSpPr>
        <p:spPr>
          <a:xfrm>
            <a:off x="795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region_id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region_code, region_name, continent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695F05-0010-43BC-8946-15031AAE0280}"/>
              </a:ext>
            </a:extLst>
          </p:cNvPr>
          <p:cNvSpPr>
            <a:spLocks noGrp="1"/>
          </p:cNvSpPr>
          <p:nvPr/>
        </p:nvSpPr>
        <p:spPr>
          <a:xfrm>
            <a:off x="795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is_active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18349C-E29E-4B60-B94A-1F3A8100A49C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1BCF1F-437B-4634-BF99-BBC96F093D81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629818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F8AFA-822D-40E2-9DE0-A77C3E1519C9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Inventory &amp; resource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7E21B-3131-4271-A93D-9DA15680FE72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E7F789-0382-45BE-A20D-2EE317D53832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2DDDB-44E2-4137-981C-55870E4E7A3F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92E617-0900-490B-B7D6-B108CCBF9F77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D5905E-4E03-417A-95F2-EEC620727CD7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FE345-675A-4C9C-BF46-53935DC22F34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resource_types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1731C-4405-42FD-AFAD-08C130174CAC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type_id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raw_service_code, raw_type_name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CBB65-DC18-4B96-A66C-D231F203BCDA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generic_category, pricing_unit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0E876C-443C-4262-80A1-632D8C7C9B53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3EC50E-52BF-43D9-AA2A-D872349F970A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64008" cy="1417320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BCCB3-E8F8-446F-9011-0E7F62BF2337}"/>
              </a:ext>
            </a:extLst>
          </p:cNvPr>
          <p:cNvSpPr>
            <a:spLocks noGrp="1"/>
          </p:cNvSpPr>
          <p:nvPr/>
        </p:nvSpPr>
        <p:spPr>
          <a:xfrm>
            <a:off x="6510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4EB59-BC99-40A3-9207-9C5E39E6A883}"/>
              </a:ext>
            </a:extLst>
          </p:cNvPr>
          <p:cNvSpPr>
            <a:spLocks noGrp="1"/>
          </p:cNvSpPr>
          <p:nvPr/>
        </p:nvSpPr>
        <p:spPr>
          <a:xfrm>
            <a:off x="6510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27192-90D0-429C-BF51-094C39F45184}"/>
              </a:ext>
            </a:extLst>
          </p:cNvPr>
          <p:cNvSpPr>
            <a:spLocks noGrp="1"/>
          </p:cNvSpPr>
          <p:nvPr/>
        </p:nvSpPr>
        <p:spPr>
          <a:xfrm>
            <a:off x="6510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type_id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region_id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E02993-F01E-4764-9CB5-4D7908F14B35}"/>
              </a:ext>
            </a:extLst>
          </p:cNvPr>
          <p:cNvSpPr>
            <a:spLocks noGrp="1"/>
          </p:cNvSpPr>
          <p:nvPr/>
        </p:nvSpPr>
        <p:spPr>
          <a:xfrm>
            <a:off x="6510528" y="217627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external_resource_id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 within account)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resource_name, status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9D579-EE4A-4D3A-94A5-2C67BD7D2D8F}"/>
              </a:ext>
            </a:extLst>
          </p:cNvPr>
          <p:cNvSpPr>
            <a:spLocks noGrp="1"/>
          </p:cNvSpPr>
          <p:nvPr/>
        </p:nvSpPr>
        <p:spPr>
          <a:xfrm>
            <a:off x="6510528" y="23957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created_at, deleted_at, hourly_cost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078289A-50F7-434A-A784-A9A1239E4448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653EC0-6956-4939-9262-B32DC8732253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64008" cy="1353312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B688B7-9AE2-47AF-8779-3310E6C137D6}"/>
              </a:ext>
            </a:extLst>
          </p:cNvPr>
          <p:cNvSpPr>
            <a:spLocks noGrp="1"/>
          </p:cNvSpPr>
          <p:nvPr/>
        </p:nvSpPr>
        <p:spPr>
          <a:xfrm>
            <a:off x="795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resource_tags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50F5A7-54E9-47F8-9FE6-1644FDF4CFEB}"/>
              </a:ext>
            </a:extLst>
          </p:cNvPr>
          <p:cNvSpPr>
            <a:spLocks noGrp="1"/>
          </p:cNvSpPr>
          <p:nvPr/>
        </p:nvSpPr>
        <p:spPr>
          <a:xfrm>
            <a:off x="795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tag_key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tag_value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F54CD0E-2453-4435-9EC3-9399AF53E007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23B545-452A-47F8-ABDB-A0E3D74EE8C4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64008" cy="1353312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75C0C-FC87-4457-90C3-4B32FE8B655C}"/>
              </a:ext>
            </a:extLst>
          </p:cNvPr>
          <p:cNvSpPr>
            <a:spLocks noGrp="1"/>
          </p:cNvSpPr>
          <p:nvPr/>
        </p:nvSpPr>
        <p:spPr>
          <a:xfrm>
            <a:off x="6510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resource_dependencies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CF469E-EE19-4F91-A909-6932C2B438A0}"/>
              </a:ext>
            </a:extLst>
          </p:cNvPr>
          <p:cNvSpPr>
            <a:spLocks noGrp="1"/>
          </p:cNvSpPr>
          <p:nvPr/>
        </p:nvSpPr>
        <p:spPr>
          <a:xfrm>
            <a:off x="6510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parent_resource_id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child_resource_id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dependency_type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62FBF6-BA1C-4A98-9B0D-3A6AD0F89924}"/>
              </a:ext>
            </a:extLst>
          </p:cNvPr>
          <p:cNvSpPr>
            <a:spLocks noGrp="1"/>
          </p:cNvSpPr>
          <p:nvPr/>
        </p:nvSpPr>
        <p:spPr>
          <a:xfrm>
            <a:off x="6510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created_at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1A1375D-8D05-4749-B4F7-7B00FF711361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588821-A09B-450C-A0C5-DC99370F5714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64008" cy="1353312"/>
          </a:xfrm>
          <a:prstGeom prst="rect">
            <a:avLst/>
          </a:prstGeom>
          <a:solidFill>
            <a:srgbClr val="CD5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FD2782-2F02-4177-8D86-C02D6DF03914}"/>
              </a:ext>
            </a:extLst>
          </p:cNvPr>
          <p:cNvSpPr>
            <a:spLocks noGrp="1"/>
          </p:cNvSpPr>
          <p:nvPr/>
        </p:nvSpPr>
        <p:spPr>
          <a:xfrm>
            <a:off x="795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resource_consumers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483118-2963-404B-9B6E-A4CC5AF39845}"/>
              </a:ext>
            </a:extLst>
          </p:cNvPr>
          <p:cNvSpPr>
            <a:spLocks noGrp="1"/>
          </p:cNvSpPr>
          <p:nvPr/>
        </p:nvSpPr>
        <p:spPr>
          <a:xfrm>
            <a:off x="795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project_id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allocation_percentage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4DCF6DA-DCCB-4B34-893C-86047DE346F8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71749A-CEE0-4B17-A0E7-9983E6A37B58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95FABA-08A8-44DA-85FC-A417CA779A02}"/>
              </a:ext>
            </a:extLst>
          </p:cNvPr>
          <p:cNvSpPr>
            <a:spLocks noGrp="1"/>
          </p:cNvSpPr>
          <p:nvPr/>
        </p:nvSpPr>
        <p:spPr>
          <a:xfrm>
            <a:off x="6510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resource_status_history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FFE89-F9F8-4272-B5AC-F70439087E52}"/>
              </a:ext>
            </a:extLst>
          </p:cNvPr>
          <p:cNvSpPr>
            <a:spLocks noGrp="1"/>
          </p:cNvSpPr>
          <p:nvPr/>
        </p:nvSpPr>
        <p:spPr>
          <a:xfrm>
            <a:off x="6510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status_history_id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previous_status, new_status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A6DFA-0217-4050-8F3D-5E438C099B2D}"/>
              </a:ext>
            </a:extLst>
          </p:cNvPr>
          <p:cNvSpPr>
            <a:spLocks noGrp="1"/>
          </p:cNvSpPr>
          <p:nvPr/>
        </p:nvSpPr>
        <p:spPr>
          <a:xfrm>
            <a:off x="6510528" y="510235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transition_time, reason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DADC1B-849C-4ED9-8423-EB28BF08368C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48ED25-7B65-42A8-8350-56D76517A57A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400861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986E-1782-431F-9085-A5625C141207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Inventory &amp; resource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13B83-AF42-468C-A5B7-DFAC6FC25B1D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27205-7631-4667-B4D0-F063A636DA96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3A985-DD2B-4CC7-89D8-0FCB40862EC8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168878-9689-43B6-A776-00F1F990099B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E05456-7847-4FAB-B4E6-79E065ED9336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17821-E1EE-46F9-9842-47A786A0E0B9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allocated_costs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1D160-F837-45A3-941A-54566FF1911A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allocated_cost_id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8E1F24-6149-4789-8070-5C534D2D59AF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allocation_month, allocation_percentage, allocated_amount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CE044-0F3A-4E35-89C9-3F2223BE3AC1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93FAE-9283-4E33-8472-0978CC92AAF9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390868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4EBFE4-A6BD-409A-9F4C-B469347D5FCE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Ingestion &amp; time-series facts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DE2DF-4AFF-4D4F-B779-A16685B006E0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671B1-5C0A-4A55-8F46-FF742AA2E49F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EE77D-F03D-4576-975E-52B6B03FA8F3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839DF79-32A7-4EFE-8329-66B21A1C547F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2657A-D57B-44BA-8155-DEC84B1937D5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417320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FAB9A-E0DB-4330-9C5A-708381DA59B9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billing_import_batches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DE3D6-46DD-4516-9857-631A21EF5919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batch_id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imported_by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file_name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25082-F6D8-42D1-A0DA-D8CB2DC2CAD8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file_checksum, imported_at, row_count, accepted_count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BC3A3-BD5B-459C-A765-25593625CBE9}"/>
              </a:ext>
            </a:extLst>
          </p:cNvPr>
          <p:cNvSpPr>
            <a:spLocks noGrp="1"/>
          </p:cNvSpPr>
          <p:nvPr/>
        </p:nvSpPr>
        <p:spPr>
          <a:xfrm>
            <a:off x="795528" y="217627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rejected_count, status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4C9F09-6A2A-48FF-A7A9-97C5DD19590D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B37021-47DB-45AE-AE18-9CC77FC612E9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64008" cy="1417320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AE273-1744-4413-AC72-FF3ABC916A6D}"/>
              </a:ext>
            </a:extLst>
          </p:cNvPr>
          <p:cNvSpPr>
            <a:spLocks noGrp="1"/>
          </p:cNvSpPr>
          <p:nvPr/>
        </p:nvSpPr>
        <p:spPr>
          <a:xfrm>
            <a:off x="6510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billing_staging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83747-E17C-4EA0-95A5-266BFB12689F}"/>
              </a:ext>
            </a:extLst>
          </p:cNvPr>
          <p:cNvSpPr>
            <a:spLocks noGrp="1"/>
          </p:cNvSpPr>
          <p:nvPr/>
        </p:nvSpPr>
        <p:spPr>
          <a:xfrm>
            <a:off x="6510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staging_id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batch_id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provider_name, external_account_id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509FE2-F51D-443C-90D5-A4CDFA294F6C}"/>
              </a:ext>
            </a:extLst>
          </p:cNvPr>
          <p:cNvSpPr>
            <a:spLocks noGrp="1"/>
          </p:cNvSpPr>
          <p:nvPr/>
        </p:nvSpPr>
        <p:spPr>
          <a:xfrm>
            <a:off x="6510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external_resource_id, service_name, usage_start_text, usage_end_text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25E40-A5FF-416B-9CF7-B3A5A9F64E15}"/>
              </a:ext>
            </a:extLst>
          </p:cNvPr>
          <p:cNvSpPr>
            <a:spLocks noGrp="1"/>
          </p:cNvSpPr>
          <p:nvPr/>
        </p:nvSpPr>
        <p:spPr>
          <a:xfrm>
            <a:off x="6510528" y="217627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usage_quantity_text, billed_cost_text, currency_code_text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6BF5D5-6926-4CE1-8496-4171E7674E20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DE84E2-AD5D-4594-BDB5-1D0088C759E5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64008" cy="1353312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4EC20-ED58-404A-B967-B34EBE754E5B}"/>
              </a:ext>
            </a:extLst>
          </p:cNvPr>
          <p:cNvSpPr>
            <a:spLocks noGrp="1"/>
          </p:cNvSpPr>
          <p:nvPr/>
        </p:nvSpPr>
        <p:spPr>
          <a:xfrm>
            <a:off x="795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billing_import_errors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9BECBA-B42E-4C92-85FB-A8349C102F42}"/>
              </a:ext>
            </a:extLst>
          </p:cNvPr>
          <p:cNvSpPr>
            <a:spLocks noGrp="1"/>
          </p:cNvSpPr>
          <p:nvPr/>
        </p:nvSpPr>
        <p:spPr>
          <a:xfrm>
            <a:off x="795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error_id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batch_id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raw_row_index, raw_payload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(JSONB)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430EA-5FB3-4F8F-826C-F5AC01A0ED31}"/>
              </a:ext>
            </a:extLst>
          </p:cNvPr>
          <p:cNvSpPr>
            <a:spLocks noGrp="1"/>
          </p:cNvSpPr>
          <p:nvPr/>
        </p:nvSpPr>
        <p:spPr>
          <a:xfrm>
            <a:off x="795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error_code, error_message, rejected_at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2B5B01-DAD1-4860-A6EF-2C474646FC68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5C2613-4032-4891-817F-364F3B20296C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64008" cy="1417320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1BF5C-10E7-4565-B84D-EF4834E905F0}"/>
              </a:ext>
            </a:extLst>
          </p:cNvPr>
          <p:cNvSpPr>
            <a:spLocks noGrp="1"/>
          </p:cNvSpPr>
          <p:nvPr/>
        </p:nvSpPr>
        <p:spPr>
          <a:xfrm>
            <a:off x="6510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billing_records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5025EA-7DAD-4E36-A501-1ABF9BB9D6E5}"/>
              </a:ext>
            </a:extLst>
          </p:cNvPr>
          <p:cNvSpPr>
            <a:spLocks noGrp="1"/>
          </p:cNvSpPr>
          <p:nvPr/>
        </p:nvSpPr>
        <p:spPr>
          <a:xfrm>
            <a:off x="6510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billing_id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usage_start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(partition key)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71AAD2-9FDC-4D72-B01A-F3DA196C74DF}"/>
              </a:ext>
            </a:extLst>
          </p:cNvPr>
          <p:cNvSpPr>
            <a:spLocks noGrp="1"/>
          </p:cNvSpPr>
          <p:nvPr/>
        </p:nvSpPr>
        <p:spPr>
          <a:xfrm>
            <a:off x="6510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5BEACC-6B64-4730-BFFA-887E29C624AF}"/>
              </a:ext>
            </a:extLst>
          </p:cNvPr>
          <p:cNvSpPr>
            <a:spLocks noGrp="1"/>
          </p:cNvSpPr>
          <p:nvPr/>
        </p:nvSpPr>
        <p:spPr>
          <a:xfrm>
            <a:off x="6510528" y="3749039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source_batch_id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service_name, usage_end, usage_quantity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EA3D72-6782-4E80-8EFB-50BAC4A2B40D}"/>
              </a:ext>
            </a:extLst>
          </p:cNvPr>
          <p:cNvSpPr>
            <a:spLocks noGrp="1"/>
          </p:cNvSpPr>
          <p:nvPr/>
        </p:nvSpPr>
        <p:spPr>
          <a:xfrm>
            <a:off x="6510528" y="39684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billed_cost, currency_code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D9B8965-9FB0-4E2A-883B-F409F40D2582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71C3EC-F182-43AF-A2D9-470E16FFAC87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64008" cy="1353312"/>
          </a:xfrm>
          <a:prstGeom prst="rect">
            <a:avLst/>
          </a:prstGeom>
          <a:solidFill>
            <a:srgbClr val="CD5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C739F6-4CFE-4849-9EDC-2484950C4D1B}"/>
              </a:ext>
            </a:extLst>
          </p:cNvPr>
          <p:cNvSpPr>
            <a:spLocks noGrp="1"/>
          </p:cNvSpPr>
          <p:nvPr/>
        </p:nvSpPr>
        <p:spPr>
          <a:xfrm>
            <a:off x="795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metric_types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F6758A-EC48-4BD0-9247-0999D652676E}"/>
              </a:ext>
            </a:extLst>
          </p:cNvPr>
          <p:cNvSpPr>
            <a:spLocks noGrp="1"/>
          </p:cNvSpPr>
          <p:nvPr/>
        </p:nvSpPr>
        <p:spPr>
          <a:xfrm>
            <a:off x="795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metric_type_id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metric_name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unit, aggregation_method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60505E9-DC98-46EF-9056-7636769B92D9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286827-B961-4D8E-BD79-4AD517BB1760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465C24-2236-4181-83B5-43769802472E}"/>
              </a:ext>
            </a:extLst>
          </p:cNvPr>
          <p:cNvSpPr>
            <a:spLocks noGrp="1"/>
          </p:cNvSpPr>
          <p:nvPr/>
        </p:nvSpPr>
        <p:spPr>
          <a:xfrm>
            <a:off x="6510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usage_metrics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1A378F-F925-4B50-AD73-6F487EDEAF35}"/>
              </a:ext>
            </a:extLst>
          </p:cNvPr>
          <p:cNvSpPr>
            <a:spLocks noGrp="1"/>
          </p:cNvSpPr>
          <p:nvPr/>
        </p:nvSpPr>
        <p:spPr>
          <a:xfrm>
            <a:off x="6510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measured_at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(partition key)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89ABB1-D891-4611-BA75-5335D85DBD67}"/>
              </a:ext>
            </a:extLst>
          </p:cNvPr>
          <p:cNvSpPr>
            <a:spLocks noGrp="1"/>
          </p:cNvSpPr>
          <p:nvPr/>
        </p:nvSpPr>
        <p:spPr>
          <a:xfrm>
            <a:off x="6510528" y="510235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metric_type_id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metric_value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6CE03B-42C4-4196-A54D-2419ED90449F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385277-6AF4-4DA2-853D-AB24B8EDD4A6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32562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0C550-DCB0-4A69-9838-089CDFA308E0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Ingestion &amp; time-series facts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94C48-1889-460C-8116-22D28295666E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484A4-24A0-4C16-9966-C064A6FAE62E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4774E-B7C6-435A-9955-D449E188913C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047F1D-10DB-4106-AF2D-EED594B9127D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BE5A7-0330-47BB-8E2C-A70F3984B163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BF117-8B88-4128-97C4-B3415816FF55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resource_daily_summaries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9C7AC-295F-4EAD-98E5-3826880C7AA6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metric_type_id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summary_date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avg_value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D6689C-BF03-4F24-B217-8DAF140138F7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max_value, min_value, sample_count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4BA393-8122-456A-9F74-00CD62962853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7741A-AF03-47EC-BD97-BDC3499BEEE8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33244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F3D71A-4B1E-4A09-B0BA-031075CB09F6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Optimization, budgets &amp;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36142-C08D-4BA2-ACA0-725634D353A9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F7952A-452A-4011-9300-6E7B85FCA49C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8B497-9564-475F-A20A-36238377270D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47F80-2A03-41F5-ACF1-5EC00CAC8EF7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0688AC-AF45-4142-A533-F0028CFDD569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ACFBE-E39E-4021-AB37-8C7FD8E11904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optimization_rules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2EDE8-1B45-43D2-8DBA-E4F95C1D4E36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rule_id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rule_name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rule_type, description, severity, is_active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1C277-12A7-4913-BAF3-CDA514B1AD16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parameters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(JSONB)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D5CA39B-837E-48B0-994C-B4BED0CB9516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53069B-9F4F-4734-B024-9C459BC5003B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64008" cy="1417320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FA9A3-1B46-4793-B767-DF0EBBCB3EA6}"/>
              </a:ext>
            </a:extLst>
          </p:cNvPr>
          <p:cNvSpPr>
            <a:spLocks noGrp="1"/>
          </p:cNvSpPr>
          <p:nvPr/>
        </p:nvSpPr>
        <p:spPr>
          <a:xfrm>
            <a:off x="6510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AEA38-A230-40CD-A915-8831B4234C17}"/>
              </a:ext>
            </a:extLst>
          </p:cNvPr>
          <p:cNvSpPr>
            <a:spLocks noGrp="1"/>
          </p:cNvSpPr>
          <p:nvPr/>
        </p:nvSpPr>
        <p:spPr>
          <a:xfrm>
            <a:off x="6510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rule_id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D9D418-47F2-488B-964B-731409CB9828}"/>
              </a:ext>
            </a:extLst>
          </p:cNvPr>
          <p:cNvSpPr>
            <a:spLocks noGrp="1"/>
          </p:cNvSpPr>
          <p:nvPr/>
        </p:nvSpPr>
        <p:spPr>
          <a:xfrm>
            <a:off x="6510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recommendation_type, problem_description, suggested_action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73282B-09BB-4973-8011-8F7916C2E04C}"/>
              </a:ext>
            </a:extLst>
          </p:cNvPr>
          <p:cNvSpPr>
            <a:spLocks noGrp="1"/>
          </p:cNvSpPr>
          <p:nvPr/>
        </p:nvSpPr>
        <p:spPr>
          <a:xfrm>
            <a:off x="6510528" y="217627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estimated_monthly_saving, risk_level, status, detected_at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1BE14-45A4-4B04-B430-F562FB3BBFBF}"/>
              </a:ext>
            </a:extLst>
          </p:cNvPr>
          <p:cNvSpPr>
            <a:spLocks noGrp="1"/>
          </p:cNvSpPr>
          <p:nvPr/>
        </p:nvSpPr>
        <p:spPr>
          <a:xfrm>
            <a:off x="6510528" y="23957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expires_at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60296AE-88B9-46F6-B3E6-AC23145D083B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C03A95-1CD3-4BE1-B086-85F996C0CB5F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64008" cy="1353312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F2D1DA-DECA-4ED2-ADE2-DEAAAED66842}"/>
              </a:ext>
            </a:extLst>
          </p:cNvPr>
          <p:cNvSpPr>
            <a:spLocks noGrp="1"/>
          </p:cNvSpPr>
          <p:nvPr/>
        </p:nvSpPr>
        <p:spPr>
          <a:xfrm>
            <a:off x="795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recommendation_evidence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56EC5-4FFA-46B6-9E68-CBDAF9A04258}"/>
              </a:ext>
            </a:extLst>
          </p:cNvPr>
          <p:cNvSpPr>
            <a:spLocks noGrp="1"/>
          </p:cNvSpPr>
          <p:nvPr/>
        </p:nvSpPr>
        <p:spPr>
          <a:xfrm>
            <a:off x="795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evidence_id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metric_type_id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8CAA2-D9DC-4439-BC05-63837705EE42}"/>
              </a:ext>
            </a:extLst>
          </p:cNvPr>
          <p:cNvSpPr>
            <a:spLocks noGrp="1"/>
          </p:cNvSpPr>
          <p:nvPr/>
        </p:nvSpPr>
        <p:spPr>
          <a:xfrm>
            <a:off x="795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observation_start, observation_end, observed_value, threshold_value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3FA5D0-855A-43AD-8010-1241A9CB366B}"/>
              </a:ext>
            </a:extLst>
          </p:cNvPr>
          <p:cNvSpPr>
            <a:spLocks noGrp="1"/>
          </p:cNvSpPr>
          <p:nvPr/>
        </p:nvSpPr>
        <p:spPr>
          <a:xfrm>
            <a:off x="795528" y="3749039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narrative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78721A-4B8D-4E66-8BDE-AADC0DC3E046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868386-9C9A-4FFE-AE77-BBCE8E051C12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64008" cy="1353312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E80653-1908-4044-AF26-FAABBF21E694}"/>
              </a:ext>
            </a:extLst>
          </p:cNvPr>
          <p:cNvSpPr>
            <a:spLocks noGrp="1"/>
          </p:cNvSpPr>
          <p:nvPr/>
        </p:nvSpPr>
        <p:spPr>
          <a:xfrm>
            <a:off x="6510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approval_requests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C5CF6-9574-4F13-BBA8-0CC0475F98F9}"/>
              </a:ext>
            </a:extLst>
          </p:cNvPr>
          <p:cNvSpPr>
            <a:spLocks noGrp="1"/>
          </p:cNvSpPr>
          <p:nvPr/>
        </p:nvSpPr>
        <p:spPr>
          <a:xfrm>
            <a:off x="6510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approval_id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requested_by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FFDBFA-1BAE-4CD2-9503-6DE43193B935}"/>
              </a:ext>
            </a:extLst>
          </p:cNvPr>
          <p:cNvSpPr>
            <a:spLocks noGrp="1"/>
          </p:cNvSpPr>
          <p:nvPr/>
        </p:nvSpPr>
        <p:spPr>
          <a:xfrm>
            <a:off x="6510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reviewed_by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decision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(NULL = pending)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comments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0C8F89-8574-4DDA-BF13-60E79F31FA78}"/>
              </a:ext>
            </a:extLst>
          </p:cNvPr>
          <p:cNvSpPr>
            <a:spLocks noGrp="1"/>
          </p:cNvSpPr>
          <p:nvPr/>
        </p:nvSpPr>
        <p:spPr>
          <a:xfrm>
            <a:off x="6510528" y="3749039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requested_at, reviewed_at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BE0F18D-5329-4136-BD67-BB65A456DC5D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7BD2A9-BC81-4A03-A470-4B725E0AEDED}"/>
              </a:ext>
            </a:extLst>
          </p:cNvPr>
          <p:cNvSpPr>
            <a:spLocks noGrp="1"/>
          </p:cNvSpPr>
          <p:nvPr/>
        </p:nvSpPr>
        <p:spPr>
          <a:xfrm>
            <a:off x="658368" y="4562856"/>
            <a:ext cx="64008" cy="1353312"/>
          </a:xfrm>
          <a:prstGeom prst="rect">
            <a:avLst/>
          </a:prstGeom>
          <a:solidFill>
            <a:srgbClr val="CD5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BF62B4-CC1C-497E-8ED0-824437D078A3}"/>
              </a:ext>
            </a:extLst>
          </p:cNvPr>
          <p:cNvSpPr>
            <a:spLocks noGrp="1"/>
          </p:cNvSpPr>
          <p:nvPr/>
        </p:nvSpPr>
        <p:spPr>
          <a:xfrm>
            <a:off x="795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recommendation_status_history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9CDFBF-6C8B-468C-B482-97B805F7E366}"/>
              </a:ext>
            </a:extLst>
          </p:cNvPr>
          <p:cNvSpPr>
            <a:spLocks noGrp="1"/>
          </p:cNvSpPr>
          <p:nvPr/>
        </p:nvSpPr>
        <p:spPr>
          <a:xfrm>
            <a:off x="795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history_id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changed_by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559136-E02F-489D-B473-D5563CA7707C}"/>
              </a:ext>
            </a:extLst>
          </p:cNvPr>
          <p:cNvSpPr>
            <a:spLocks noGrp="1"/>
          </p:cNvSpPr>
          <p:nvPr/>
        </p:nvSpPr>
        <p:spPr>
          <a:xfrm>
            <a:off x="795528" y="510235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old_status, new_status, changed_at, reason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9A951ED-71A8-4B6A-A9F7-EAD43A1B8C84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DB6474-55A7-4AD2-BE9C-6EFB20CB3E06}"/>
              </a:ext>
            </a:extLst>
          </p:cNvPr>
          <p:cNvSpPr>
            <a:spLocks noGrp="1"/>
          </p:cNvSpPr>
          <p:nvPr/>
        </p:nvSpPr>
        <p:spPr>
          <a:xfrm>
            <a:off x="6373368" y="4562856"/>
            <a:ext cx="64008" cy="1353312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CA410F-E70E-42BF-B73B-AC84F8F1F89A}"/>
              </a:ext>
            </a:extLst>
          </p:cNvPr>
          <p:cNvSpPr>
            <a:spLocks noGrp="1"/>
          </p:cNvSpPr>
          <p:nvPr/>
        </p:nvSpPr>
        <p:spPr>
          <a:xfrm>
            <a:off x="6510528" y="4626864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recommendation_actions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B64627-54CC-451C-96EB-0B18AD7FD2E6}"/>
              </a:ext>
            </a:extLst>
          </p:cNvPr>
          <p:cNvSpPr>
            <a:spLocks noGrp="1"/>
          </p:cNvSpPr>
          <p:nvPr/>
        </p:nvSpPr>
        <p:spPr>
          <a:xfrm>
            <a:off x="6510528" y="4882896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action_id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executed_by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1CF614-6441-4436-BF3E-E41B298D2AB1}"/>
              </a:ext>
            </a:extLst>
          </p:cNvPr>
          <p:cNvSpPr>
            <a:spLocks noGrp="1"/>
          </p:cNvSpPr>
          <p:nvPr/>
        </p:nvSpPr>
        <p:spPr>
          <a:xfrm>
            <a:off x="6510528" y="510235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action_type, execution_status, started_at, completed_at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8C63EA-C90C-458D-AC96-6607DFBBDAAF}"/>
              </a:ext>
            </a:extLst>
          </p:cNvPr>
          <p:cNvSpPr>
            <a:spLocks noGrp="1"/>
          </p:cNvSpPr>
          <p:nvPr/>
        </p:nvSpPr>
        <p:spPr>
          <a:xfrm>
            <a:off x="6510528" y="532180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error_payload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(JSONB)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5B5FC3-F9ED-43F6-AAAB-F3D04AC94209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3BA54E-4C03-4E83-9BF5-7A251BB6A9B6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941319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008F2-6AA7-40C7-9704-FDD991FD89EA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Entity directory — Optimization, budgets &amp;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22ACB-6AA0-4D43-B622-F9268A019EA6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Primary-key attributes are underlined. Other keys are marked in parentheses.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BAEC6A-A557-4065-979A-908968B6BE0F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D1F51-8BBD-4823-A88B-1CAB33DC40C9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799079-C5D1-4F93-B703-1EE2034CA6D4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53FF9-C08D-4D9F-9596-1AD6FAE9E51C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64008" cy="1417320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69FA0-F271-4A1C-AE55-1375CC36B11B}"/>
              </a:ext>
            </a:extLst>
          </p:cNvPr>
          <p:cNvSpPr>
            <a:spLocks noGrp="1"/>
          </p:cNvSpPr>
          <p:nvPr/>
        </p:nvSpPr>
        <p:spPr>
          <a:xfrm>
            <a:off x="795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savings_realization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DA3A5-7BEB-48CA-B986-128F767A9006}"/>
              </a:ext>
            </a:extLst>
          </p:cNvPr>
          <p:cNvSpPr>
            <a:spLocks noGrp="1"/>
          </p:cNvSpPr>
          <p:nvPr/>
        </p:nvSpPr>
        <p:spPr>
          <a:xfrm>
            <a:off x="795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realization_id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UK)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baseline_monthly_cost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074A8-C09C-4291-BE11-1A7F80C8F8FD}"/>
              </a:ext>
            </a:extLst>
          </p:cNvPr>
          <p:cNvSpPr>
            <a:spLocks noGrp="1"/>
          </p:cNvSpPr>
          <p:nvPr/>
        </p:nvSpPr>
        <p:spPr>
          <a:xfrm>
            <a:off x="795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actual_monthly_cost, estimated_saving, actual_saving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99B80-1D04-4516-AF69-0C704173D539}"/>
              </a:ext>
            </a:extLst>
          </p:cNvPr>
          <p:cNvSpPr>
            <a:spLocks noGrp="1"/>
          </p:cNvSpPr>
          <p:nvPr/>
        </p:nvSpPr>
        <p:spPr>
          <a:xfrm>
            <a:off x="795528" y="2176272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realization_percentage, measurement_start, measurement_end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ADD2F-8848-4E5F-9402-5524DB1AA9B2}"/>
              </a:ext>
            </a:extLst>
          </p:cNvPr>
          <p:cNvSpPr>
            <a:spLocks noGrp="1"/>
          </p:cNvSpPr>
          <p:nvPr/>
        </p:nvSpPr>
        <p:spPr>
          <a:xfrm>
            <a:off x="795528" y="23957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calculated_at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84D3A8-9555-4D4A-968D-74EC61542344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D64910-584B-43AA-B874-324401FF363D}"/>
              </a:ext>
            </a:extLst>
          </p:cNvPr>
          <p:cNvSpPr>
            <a:spLocks noGrp="1"/>
          </p:cNvSpPr>
          <p:nvPr/>
        </p:nvSpPr>
        <p:spPr>
          <a:xfrm>
            <a:off x="6373368" y="1417320"/>
            <a:ext cx="64008" cy="135331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71B0EF-2496-469C-99EA-9197CD936BEC}"/>
              </a:ext>
            </a:extLst>
          </p:cNvPr>
          <p:cNvSpPr>
            <a:spLocks noGrp="1"/>
          </p:cNvSpPr>
          <p:nvPr/>
        </p:nvSpPr>
        <p:spPr>
          <a:xfrm>
            <a:off x="6510528" y="1481328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budgets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192947-9C32-4FB3-891A-9A46B4C61DA2}"/>
              </a:ext>
            </a:extLst>
          </p:cNvPr>
          <p:cNvSpPr>
            <a:spLocks noGrp="1"/>
          </p:cNvSpPr>
          <p:nvPr/>
        </p:nvSpPr>
        <p:spPr>
          <a:xfrm>
            <a:off x="6510528" y="1737360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budget_id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team_id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0AB06-14AC-471C-BBBE-71B6A906F8E1}"/>
              </a:ext>
            </a:extLst>
          </p:cNvPr>
          <p:cNvSpPr>
            <a:spLocks noGrp="1"/>
          </p:cNvSpPr>
          <p:nvPr/>
        </p:nvSpPr>
        <p:spPr>
          <a:xfrm>
            <a:off x="6510528" y="1956815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budget_month, budget_amount, warning_percentage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B27F26-8ACB-4623-860C-128DDFC99C43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5440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6FD06C-C7E5-495B-9F02-FBF915C82B6C}"/>
              </a:ext>
            </a:extLst>
          </p:cNvPr>
          <p:cNvSpPr>
            <a:spLocks noGrp="1"/>
          </p:cNvSpPr>
          <p:nvPr/>
        </p:nvSpPr>
        <p:spPr>
          <a:xfrm>
            <a:off x="658368" y="2990088"/>
            <a:ext cx="64008" cy="1353312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4A7C-A1A2-4EF8-A1A8-E8B246CDC734}"/>
              </a:ext>
            </a:extLst>
          </p:cNvPr>
          <p:cNvSpPr>
            <a:spLocks noGrp="1"/>
          </p:cNvSpPr>
          <p:nvPr/>
        </p:nvSpPr>
        <p:spPr>
          <a:xfrm>
            <a:off x="795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budget_alerts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8E1B55-292D-42A7-B6FC-DD352217947A}"/>
              </a:ext>
            </a:extLst>
          </p:cNvPr>
          <p:cNvSpPr>
            <a:spLocks noGrp="1"/>
          </p:cNvSpPr>
          <p:nvPr/>
        </p:nvSpPr>
        <p:spPr>
          <a:xfrm>
            <a:off x="795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alert_id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budget_id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triggered_at, threshold_percentage_reached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4E4BD-74EF-4ACA-AF0D-9C38CF5099A9}"/>
              </a:ext>
            </a:extLst>
          </p:cNvPr>
          <p:cNvSpPr>
            <a:spLocks noGrp="1"/>
          </p:cNvSpPr>
          <p:nvPr/>
        </p:nvSpPr>
        <p:spPr>
          <a:xfrm>
            <a:off x="795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current_spend, budget_amount, is_acknowledged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56ADA3-E4D7-4161-8E26-73B47E8EF4D6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5440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192C83-7997-4096-BE12-36D2E169DFF6}"/>
              </a:ext>
            </a:extLst>
          </p:cNvPr>
          <p:cNvSpPr>
            <a:spLocks noGrp="1"/>
          </p:cNvSpPr>
          <p:nvPr/>
        </p:nvSpPr>
        <p:spPr>
          <a:xfrm>
            <a:off x="6373368" y="2990088"/>
            <a:ext cx="64008" cy="1417320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EFCFC3-872E-446A-8F11-F2BBD2D5DC13}"/>
              </a:ext>
            </a:extLst>
          </p:cNvPr>
          <p:cNvSpPr>
            <a:spLocks noGrp="1"/>
          </p:cNvSpPr>
          <p:nvPr/>
        </p:nvSpPr>
        <p:spPr>
          <a:xfrm>
            <a:off x="6510528" y="3054096"/>
            <a:ext cx="519379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audit_logs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E3160F-CA94-4532-8F4D-D9C51C4FC630}"/>
              </a:ext>
            </a:extLst>
          </p:cNvPr>
          <p:cNvSpPr>
            <a:spLocks noGrp="1"/>
          </p:cNvSpPr>
          <p:nvPr/>
        </p:nvSpPr>
        <p:spPr>
          <a:xfrm>
            <a:off x="6510528" y="3310128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1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audit_id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user_id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(FK, nullable)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action_type, entity_type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A888E0-5041-4296-9426-870ADF3CEEDF}"/>
              </a:ext>
            </a:extLst>
          </p:cNvPr>
          <p:cNvSpPr>
            <a:spLocks noGrp="1"/>
          </p:cNvSpPr>
          <p:nvPr/>
        </p:nvSpPr>
        <p:spPr>
          <a:xfrm>
            <a:off x="6510528" y="3529584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entity_id, old_state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(JSONB)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new_state</a:t>
            </a:r>
            <a:r>
              <a:rPr sz="900" b="0" u="none">
                <a:solidFill>
                  <a:srgbClr val="5B6C81"/>
                </a:solidFill>
                <a:latin typeface="Aptos"/>
                <a:ea typeface="Aptos"/>
                <a:cs typeface="Aptos"/>
              </a:rPr>
              <a:t> (JSONB)</a:t>
            </a:r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action_timestamp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EC9598-D206-4BFE-9FCF-E9F8A045DAC8}"/>
              </a:ext>
            </a:extLst>
          </p:cNvPr>
          <p:cNvSpPr>
            <a:spLocks noGrp="1"/>
          </p:cNvSpPr>
          <p:nvPr/>
        </p:nvSpPr>
        <p:spPr>
          <a:xfrm>
            <a:off x="6510528" y="3749039"/>
            <a:ext cx="51846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900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client_ip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427635-3B9C-4899-8354-583A4EA27EC5}"/>
              </a:ext>
            </a:extLst>
          </p:cNvPr>
          <p:cNvSpPr>
            <a:spLocks noGrp="1"/>
          </p:cNvSpPr>
          <p:nvPr/>
        </p:nvSpPr>
        <p:spPr>
          <a:xfrm>
            <a:off x="685800" y="6327648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Notation: PK = primary key • FK = foreign key • UK = unique/candidate key • JSONB = structured JSON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0BD1E1-6B9D-48A7-9A07-77377B7F1C86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224177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36A26-665A-4A15-A3EF-E16B44B933AB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Relational schema — 1/4  MASTER &amp;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09A3A-79E0-4EA4-84A1-EF69E4B807E1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 keys are underlined; foreign and unique keys are explicitly labelled.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4796F-70EB-40AE-B8F7-52474C8765BF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34474-6A03-4911-977E-855125EDBB66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6D7948-2566-4820-A719-9D9722794655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4D941-2D72-4DCD-9CEC-FB7B1AD4496E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83915-471F-4612-8059-D11DFF85E579}"/>
              </a:ext>
            </a:extLst>
          </p:cNvPr>
          <p:cNvSpPr>
            <a:spLocks noGrp="1"/>
          </p:cNvSpPr>
          <p:nvPr/>
        </p:nvSpPr>
        <p:spPr>
          <a:xfrm>
            <a:off x="832104" y="1481328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cloud_providers(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provider_id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provider_name (UK), api_endpoint_url, is_active)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423D263-9B14-43FD-A84A-DC2A973DB75C}"/>
              </a:ext>
            </a:extLst>
          </p:cNvPr>
          <p:cNvSpPr>
            <a:spLocks noGrp="1"/>
          </p:cNvSpPr>
          <p:nvPr/>
        </p:nvSpPr>
        <p:spPr>
          <a:xfrm>
            <a:off x="685800" y="1959864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8B62F3-9A3B-4991-9E74-528964DC13AC}"/>
              </a:ext>
            </a:extLst>
          </p:cNvPr>
          <p:cNvSpPr>
            <a:spLocks noGrp="1"/>
          </p:cNvSpPr>
          <p:nvPr/>
        </p:nvSpPr>
        <p:spPr>
          <a:xfrm>
            <a:off x="685800" y="1959864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B2EBE-2DA2-455F-8C50-9511A83181E3}"/>
              </a:ext>
            </a:extLst>
          </p:cNvPr>
          <p:cNvSpPr>
            <a:spLocks noGrp="1"/>
          </p:cNvSpPr>
          <p:nvPr/>
        </p:nvSpPr>
        <p:spPr>
          <a:xfrm>
            <a:off x="832104" y="2023872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cloud_accounts(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account_id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provider_id (FK), account_name, external_account_id, currency_code, is_active)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782BEA-FC57-4C3A-BFA3-F705593A86E3}"/>
              </a:ext>
            </a:extLst>
          </p:cNvPr>
          <p:cNvSpPr>
            <a:spLocks noGrp="1"/>
          </p:cNvSpPr>
          <p:nvPr/>
        </p:nvSpPr>
        <p:spPr>
          <a:xfrm>
            <a:off x="685800" y="2502408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A6A503-1D3B-4CF1-B0E9-6525131273B0}"/>
              </a:ext>
            </a:extLst>
          </p:cNvPr>
          <p:cNvSpPr>
            <a:spLocks noGrp="1"/>
          </p:cNvSpPr>
          <p:nvPr/>
        </p:nvSpPr>
        <p:spPr>
          <a:xfrm>
            <a:off x="685800" y="2502408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2CAAD-87B2-44D7-A347-AAE737690BC8}"/>
              </a:ext>
            </a:extLst>
          </p:cNvPr>
          <p:cNvSpPr>
            <a:spLocks noGrp="1"/>
          </p:cNvSpPr>
          <p:nvPr/>
        </p:nvSpPr>
        <p:spPr>
          <a:xfrm>
            <a:off x="832104" y="2566416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users(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user_id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email (UK), username, password_hash, first_name, last_name, is_active, created_at)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AEC80D-EDA6-4E9A-8F3E-AF6AD0D873F0}"/>
              </a:ext>
            </a:extLst>
          </p:cNvPr>
          <p:cNvSpPr>
            <a:spLocks noGrp="1"/>
          </p:cNvSpPr>
          <p:nvPr/>
        </p:nvSpPr>
        <p:spPr>
          <a:xfrm>
            <a:off x="685800" y="3044952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762A2-3403-4905-A1EE-7C1B15919EE3}"/>
              </a:ext>
            </a:extLst>
          </p:cNvPr>
          <p:cNvSpPr>
            <a:spLocks noGrp="1"/>
          </p:cNvSpPr>
          <p:nvPr/>
        </p:nvSpPr>
        <p:spPr>
          <a:xfrm>
            <a:off x="685800" y="3044952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5B29C4-27F1-4FB3-AE83-5E660A3CFB91}"/>
              </a:ext>
            </a:extLst>
          </p:cNvPr>
          <p:cNvSpPr>
            <a:spLocks noGrp="1"/>
          </p:cNvSpPr>
          <p:nvPr/>
        </p:nvSpPr>
        <p:spPr>
          <a:xfrm>
            <a:off x="832104" y="3108960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roles(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role_id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role_name (UK), description, permissions)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0F908F6-DDF9-4827-97B0-81D34AFB74A4}"/>
              </a:ext>
            </a:extLst>
          </p:cNvPr>
          <p:cNvSpPr>
            <a:spLocks noGrp="1"/>
          </p:cNvSpPr>
          <p:nvPr/>
        </p:nvSpPr>
        <p:spPr>
          <a:xfrm>
            <a:off x="685800" y="3587496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5D21C-852E-4680-A1EA-FDBA6332DFD5}"/>
              </a:ext>
            </a:extLst>
          </p:cNvPr>
          <p:cNvSpPr>
            <a:spLocks noGrp="1"/>
          </p:cNvSpPr>
          <p:nvPr/>
        </p:nvSpPr>
        <p:spPr>
          <a:xfrm>
            <a:off x="685800" y="3587496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4CDB51-299F-4C1B-91D4-B577532AD47F}"/>
              </a:ext>
            </a:extLst>
          </p:cNvPr>
          <p:cNvSpPr>
            <a:spLocks noGrp="1"/>
          </p:cNvSpPr>
          <p:nvPr/>
        </p:nvSpPr>
        <p:spPr>
          <a:xfrm>
            <a:off x="832104" y="3651504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user_roles(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user_id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role_id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assigned_at)  — composite PK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EE912FA-A965-4396-AD3B-A570CFA2F93D}"/>
              </a:ext>
            </a:extLst>
          </p:cNvPr>
          <p:cNvSpPr>
            <a:spLocks noGrp="1"/>
          </p:cNvSpPr>
          <p:nvPr/>
        </p:nvSpPr>
        <p:spPr>
          <a:xfrm>
            <a:off x="685800" y="4130040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3B6ED-496F-46BA-9061-C8BC6E67F24E}"/>
              </a:ext>
            </a:extLst>
          </p:cNvPr>
          <p:cNvSpPr>
            <a:spLocks noGrp="1"/>
          </p:cNvSpPr>
          <p:nvPr/>
        </p:nvSpPr>
        <p:spPr>
          <a:xfrm>
            <a:off x="685800" y="4130040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14DC0F-317E-4299-91EA-2B383584AA25}"/>
              </a:ext>
            </a:extLst>
          </p:cNvPr>
          <p:cNvSpPr>
            <a:spLocks noGrp="1"/>
          </p:cNvSpPr>
          <p:nvPr/>
        </p:nvSpPr>
        <p:spPr>
          <a:xfrm>
            <a:off x="832104" y="4194048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teams(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team_id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team_name (UK), cost_center (UK), manager_user_id (FK), created_at)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041B0DA-9C4B-443A-B582-0146361B2F82}"/>
              </a:ext>
            </a:extLst>
          </p:cNvPr>
          <p:cNvSpPr>
            <a:spLocks noGrp="1"/>
          </p:cNvSpPr>
          <p:nvPr/>
        </p:nvSpPr>
        <p:spPr>
          <a:xfrm>
            <a:off x="685800" y="4672584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1ABA9E-4DF1-4288-ACF7-1E11D1681847}"/>
              </a:ext>
            </a:extLst>
          </p:cNvPr>
          <p:cNvSpPr>
            <a:spLocks noGrp="1"/>
          </p:cNvSpPr>
          <p:nvPr/>
        </p:nvSpPr>
        <p:spPr>
          <a:xfrm>
            <a:off x="685800" y="4672584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46295F-7E5D-4019-A8B9-54D599FC61AF}"/>
              </a:ext>
            </a:extLst>
          </p:cNvPr>
          <p:cNvSpPr>
            <a:spLocks noGrp="1"/>
          </p:cNvSpPr>
          <p:nvPr/>
        </p:nvSpPr>
        <p:spPr>
          <a:xfrm>
            <a:off x="832104" y="4736592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projects(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project_id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team_id (FK), environment_id (FK), project_name, description, is_active, created_at)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BC48992-99F3-40AE-9749-05613E9E740E}"/>
              </a:ext>
            </a:extLst>
          </p:cNvPr>
          <p:cNvSpPr>
            <a:spLocks noGrp="1"/>
          </p:cNvSpPr>
          <p:nvPr/>
        </p:nvSpPr>
        <p:spPr>
          <a:xfrm>
            <a:off x="685800" y="5215128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28B1EA-2002-491B-B89A-4B7F91C5E29D}"/>
              </a:ext>
            </a:extLst>
          </p:cNvPr>
          <p:cNvSpPr>
            <a:spLocks noGrp="1"/>
          </p:cNvSpPr>
          <p:nvPr/>
        </p:nvSpPr>
        <p:spPr>
          <a:xfrm>
            <a:off x="685800" y="5215128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ECD53E-7416-4BDF-9391-B9A617B297A0}"/>
              </a:ext>
            </a:extLst>
          </p:cNvPr>
          <p:cNvSpPr>
            <a:spLocks noGrp="1"/>
          </p:cNvSpPr>
          <p:nvPr/>
        </p:nvSpPr>
        <p:spPr>
          <a:xfrm>
            <a:off x="832104" y="5279136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environments(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environment_id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environment_code (UK), is_production_grade)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D6632B6-8422-417C-BC3D-6067F583C958}"/>
              </a:ext>
            </a:extLst>
          </p:cNvPr>
          <p:cNvSpPr>
            <a:spLocks noGrp="1"/>
          </p:cNvSpPr>
          <p:nvPr/>
        </p:nvSpPr>
        <p:spPr>
          <a:xfrm>
            <a:off x="685800" y="5757672"/>
            <a:ext cx="10835640" cy="460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12D70C-DDB1-49CD-96AB-29E0AD95AE82}"/>
              </a:ext>
            </a:extLst>
          </p:cNvPr>
          <p:cNvSpPr>
            <a:spLocks noGrp="1"/>
          </p:cNvSpPr>
          <p:nvPr/>
        </p:nvSpPr>
        <p:spPr>
          <a:xfrm>
            <a:off x="685800" y="5757672"/>
            <a:ext cx="54864" cy="460248"/>
          </a:xfrm>
          <a:prstGeom prst="rect">
            <a:avLst/>
          </a:prstGeom>
          <a:solidFill>
            <a:srgbClr val="28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52528F-E494-4B34-9889-96E4526DC7F7}"/>
              </a:ext>
            </a:extLst>
          </p:cNvPr>
          <p:cNvSpPr>
            <a:spLocks noGrp="1"/>
          </p:cNvSpPr>
          <p:nvPr/>
        </p:nvSpPr>
        <p:spPr>
          <a:xfrm>
            <a:off x="832104" y="5821680"/>
            <a:ext cx="10588752" cy="350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regions(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region_id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provider_id (FK), region_code, region_name, continent, is_active)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0AB31A-E0B3-4A06-9CA9-3DE361F0004E}"/>
              </a:ext>
            </a:extLst>
          </p:cNvPr>
          <p:cNvSpPr>
            <a:spLocks noGrp="1"/>
          </p:cNvSpPr>
          <p:nvPr/>
        </p:nvSpPr>
        <p:spPr>
          <a:xfrm>
            <a:off x="713232" y="6291072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Composite PKs underline every component. Partitioned fact tables include the time column in the PK.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1F5E0A-34F2-46A8-9B09-317FA6CB6BE5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659329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584F0-8902-4EC9-BCCF-5DCE51E92856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Relational schema — 2/4  INVENTORY &amp; RESOURCE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80814-D1E1-412B-B6D4-4032F26CB696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 keys are underlined; foreign and unique keys are explicitly labelled.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B9F3FA-C62B-4C66-86FC-526B50FFBB5C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454C1-95E6-441C-9DD5-90C5D6B7CAF7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BB7BB5-5096-45F2-B261-5A51A464F983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0ABED-69BA-41CB-BCC9-C58364F3CD36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9BDD0-5983-4D68-9697-E58C9EC901E5}"/>
              </a:ext>
            </a:extLst>
          </p:cNvPr>
          <p:cNvSpPr>
            <a:spLocks noGrp="1"/>
          </p:cNvSpPr>
          <p:nvPr/>
        </p:nvSpPr>
        <p:spPr>
          <a:xfrm>
            <a:off x="832104" y="1481328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resource_types(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type_id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provider_id (FK), raw_service_code, raw_type_name, generic_category, pricing_unit)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9737BF-3A03-4641-9C58-8D0A72A12022}"/>
              </a:ext>
            </a:extLst>
          </p:cNvPr>
          <p:cNvSpPr>
            <a:spLocks noGrp="1"/>
          </p:cNvSpPr>
          <p:nvPr/>
        </p:nvSpPr>
        <p:spPr>
          <a:xfrm>
            <a:off x="685800" y="2066543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4A0FE-FCFE-45F8-B03F-BB2FF2E011A4}"/>
              </a:ext>
            </a:extLst>
          </p:cNvPr>
          <p:cNvSpPr>
            <a:spLocks noGrp="1"/>
          </p:cNvSpPr>
          <p:nvPr/>
        </p:nvSpPr>
        <p:spPr>
          <a:xfrm>
            <a:off x="685800" y="2066543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D9B23-2FB6-4CC1-A0DD-5E27FED3DE53}"/>
              </a:ext>
            </a:extLst>
          </p:cNvPr>
          <p:cNvSpPr>
            <a:spLocks noGrp="1"/>
          </p:cNvSpPr>
          <p:nvPr/>
        </p:nvSpPr>
        <p:spPr>
          <a:xfrm>
            <a:off x="832104" y="2130551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account_id (FK), project_id (FK, nullable), type_id (FK), region_id (FK), external_resource_id, resource_name, status, created_at, deleted_at, hourly_cost)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1F4A4F4-F67D-461D-9CCD-135BA7798A1D}"/>
              </a:ext>
            </a:extLst>
          </p:cNvPr>
          <p:cNvSpPr>
            <a:spLocks noGrp="1"/>
          </p:cNvSpPr>
          <p:nvPr/>
        </p:nvSpPr>
        <p:spPr>
          <a:xfrm>
            <a:off x="685800" y="2715768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214875-0E2A-4FBD-80CD-A11278783DE2}"/>
              </a:ext>
            </a:extLst>
          </p:cNvPr>
          <p:cNvSpPr>
            <a:spLocks noGrp="1"/>
          </p:cNvSpPr>
          <p:nvPr/>
        </p:nvSpPr>
        <p:spPr>
          <a:xfrm>
            <a:off x="685800" y="2715768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91451-F11E-4C3F-815E-42F59AE387DC}"/>
              </a:ext>
            </a:extLst>
          </p:cNvPr>
          <p:cNvSpPr>
            <a:spLocks noGrp="1"/>
          </p:cNvSpPr>
          <p:nvPr/>
        </p:nvSpPr>
        <p:spPr>
          <a:xfrm>
            <a:off x="832104" y="2779775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resource_tags(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tag_key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tag_value)  — composite PK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6E3AA0-BE05-43B7-8076-9F9BAC2BAFBF}"/>
              </a:ext>
            </a:extLst>
          </p:cNvPr>
          <p:cNvSpPr>
            <a:spLocks noGrp="1"/>
          </p:cNvSpPr>
          <p:nvPr/>
        </p:nvSpPr>
        <p:spPr>
          <a:xfrm>
            <a:off x="685800" y="3364991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A6C2D-B029-49B8-9E16-8BF2C9331789}"/>
              </a:ext>
            </a:extLst>
          </p:cNvPr>
          <p:cNvSpPr>
            <a:spLocks noGrp="1"/>
          </p:cNvSpPr>
          <p:nvPr/>
        </p:nvSpPr>
        <p:spPr>
          <a:xfrm>
            <a:off x="685800" y="3364991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4598C6-1CD0-4850-85D9-1DEDEE93EA49}"/>
              </a:ext>
            </a:extLst>
          </p:cNvPr>
          <p:cNvSpPr>
            <a:spLocks noGrp="1"/>
          </p:cNvSpPr>
          <p:nvPr/>
        </p:nvSpPr>
        <p:spPr>
          <a:xfrm>
            <a:off x="832104" y="3428999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resource_dependencies(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parent_resource_id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child_resource_id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dependency_type, created_at)  — composite PK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58AE46-A762-4731-BE39-95A7AF0B2198}"/>
              </a:ext>
            </a:extLst>
          </p:cNvPr>
          <p:cNvSpPr>
            <a:spLocks noGrp="1"/>
          </p:cNvSpPr>
          <p:nvPr/>
        </p:nvSpPr>
        <p:spPr>
          <a:xfrm>
            <a:off x="685800" y="4014215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0F698A-6752-4082-BBF4-6CEB9036939B}"/>
              </a:ext>
            </a:extLst>
          </p:cNvPr>
          <p:cNvSpPr>
            <a:spLocks noGrp="1"/>
          </p:cNvSpPr>
          <p:nvPr/>
        </p:nvSpPr>
        <p:spPr>
          <a:xfrm>
            <a:off x="685800" y="4014215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E01B20-CCAA-4201-8F96-38ED2BB8EC75}"/>
              </a:ext>
            </a:extLst>
          </p:cNvPr>
          <p:cNvSpPr>
            <a:spLocks noGrp="1"/>
          </p:cNvSpPr>
          <p:nvPr/>
        </p:nvSpPr>
        <p:spPr>
          <a:xfrm>
            <a:off x="832104" y="4078224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resource_consumers(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project_id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allocation_percentage)  — composite PK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3A3A4D6-603B-45CE-8633-232BEE6AF886}"/>
              </a:ext>
            </a:extLst>
          </p:cNvPr>
          <p:cNvSpPr>
            <a:spLocks noGrp="1"/>
          </p:cNvSpPr>
          <p:nvPr/>
        </p:nvSpPr>
        <p:spPr>
          <a:xfrm>
            <a:off x="685800" y="4663440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87960D-3FDA-42E1-9D20-240BFF871B14}"/>
              </a:ext>
            </a:extLst>
          </p:cNvPr>
          <p:cNvSpPr>
            <a:spLocks noGrp="1"/>
          </p:cNvSpPr>
          <p:nvPr/>
        </p:nvSpPr>
        <p:spPr>
          <a:xfrm>
            <a:off x="685800" y="4663440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0582F4-80C9-44E6-BE10-A679272C148C}"/>
              </a:ext>
            </a:extLst>
          </p:cNvPr>
          <p:cNvSpPr>
            <a:spLocks noGrp="1"/>
          </p:cNvSpPr>
          <p:nvPr/>
        </p:nvSpPr>
        <p:spPr>
          <a:xfrm>
            <a:off x="832104" y="4727448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resource_status_history(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status_history_id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 (FK), previous_status, new_status, transition_time, reason)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5B4A689-B732-4240-8BAB-6E2FD272D36F}"/>
              </a:ext>
            </a:extLst>
          </p:cNvPr>
          <p:cNvSpPr>
            <a:spLocks noGrp="1"/>
          </p:cNvSpPr>
          <p:nvPr/>
        </p:nvSpPr>
        <p:spPr>
          <a:xfrm>
            <a:off x="685800" y="5312664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5CAD87-5C0E-4B25-AEF5-EFB671624F43}"/>
              </a:ext>
            </a:extLst>
          </p:cNvPr>
          <p:cNvSpPr>
            <a:spLocks noGrp="1"/>
          </p:cNvSpPr>
          <p:nvPr/>
        </p:nvSpPr>
        <p:spPr>
          <a:xfrm>
            <a:off x="685800" y="5312664"/>
            <a:ext cx="54864" cy="566928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2A7471-EBE0-4F5A-982E-8946660C80AE}"/>
              </a:ext>
            </a:extLst>
          </p:cNvPr>
          <p:cNvSpPr>
            <a:spLocks noGrp="1"/>
          </p:cNvSpPr>
          <p:nvPr/>
        </p:nvSpPr>
        <p:spPr>
          <a:xfrm>
            <a:off x="832104" y="5376672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allocated_costs(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allocated_cost_id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 (FK), project_id (FK), allocation_month, allocation_percentage, allocated_amount)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4B0FC8-D883-4552-829E-0E4F06136A7A}"/>
              </a:ext>
            </a:extLst>
          </p:cNvPr>
          <p:cNvSpPr>
            <a:spLocks noGrp="1"/>
          </p:cNvSpPr>
          <p:nvPr/>
        </p:nvSpPr>
        <p:spPr>
          <a:xfrm>
            <a:off x="713232" y="6291072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Composite PKs underline every component. Partitioned fact tables include the time column in the PK.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7E4673-DA94-484D-A774-DFE80FA92401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1027235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5519FA-26EE-450F-B7AB-1CAB7D5E7FC6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Relational schema — 3/4  INGESTION &amp; TIME-SERIES FACTS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166F1-F69E-4CF9-A1C7-DACC4A9E7657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 keys are underlined; foreign and unique keys are explicitly labelled.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FC79D-4572-432A-906D-09CFE5F331E3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1B72D-D9BD-4509-8A4F-17A297766CEE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61CC4C-9A51-46AB-A0D0-7B87B3C0089B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BA5589-0561-47AB-A4E4-4178A14FC80A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46873-4B3D-4824-AEBE-A07A8C21B8D6}"/>
              </a:ext>
            </a:extLst>
          </p:cNvPr>
          <p:cNvSpPr>
            <a:spLocks noGrp="1"/>
          </p:cNvSpPr>
          <p:nvPr/>
        </p:nvSpPr>
        <p:spPr>
          <a:xfrm>
            <a:off x="832104" y="1481328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billing_import_batches(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batch_id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account_id (FK), imported_by (FK), file_name, file_checksum, imported_at, row_count, accepted_count, rejected_count, status)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E90424-3C40-4762-90EB-DFDBF04BCD2E}"/>
              </a:ext>
            </a:extLst>
          </p:cNvPr>
          <p:cNvSpPr>
            <a:spLocks noGrp="1"/>
          </p:cNvSpPr>
          <p:nvPr/>
        </p:nvSpPr>
        <p:spPr>
          <a:xfrm>
            <a:off x="685800" y="2066543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955EB-E7B9-4FFC-9FCC-57141EBD099A}"/>
              </a:ext>
            </a:extLst>
          </p:cNvPr>
          <p:cNvSpPr>
            <a:spLocks noGrp="1"/>
          </p:cNvSpPr>
          <p:nvPr/>
        </p:nvSpPr>
        <p:spPr>
          <a:xfrm>
            <a:off x="685800" y="2066543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91C3C-0251-4C66-B203-264BF20CC6C7}"/>
              </a:ext>
            </a:extLst>
          </p:cNvPr>
          <p:cNvSpPr>
            <a:spLocks noGrp="1"/>
          </p:cNvSpPr>
          <p:nvPr/>
        </p:nvSpPr>
        <p:spPr>
          <a:xfrm>
            <a:off x="832104" y="2130551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billing_staging(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staging_id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batch_id (FK), provider_name, external_account_id, external_resource_id, service_name, usage_start_text, usage_end_text, usage_quantity_text, billed_cost_text, currency_code_text)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6117921-F784-4598-A070-3D831CE4E2C7}"/>
              </a:ext>
            </a:extLst>
          </p:cNvPr>
          <p:cNvSpPr>
            <a:spLocks noGrp="1"/>
          </p:cNvSpPr>
          <p:nvPr/>
        </p:nvSpPr>
        <p:spPr>
          <a:xfrm>
            <a:off x="685800" y="2715768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1E6AA5-1E59-4D97-87E3-9C815C625B7C}"/>
              </a:ext>
            </a:extLst>
          </p:cNvPr>
          <p:cNvSpPr>
            <a:spLocks noGrp="1"/>
          </p:cNvSpPr>
          <p:nvPr/>
        </p:nvSpPr>
        <p:spPr>
          <a:xfrm>
            <a:off x="685800" y="2715768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98781A-90A2-4678-9191-A74A09FD1B5E}"/>
              </a:ext>
            </a:extLst>
          </p:cNvPr>
          <p:cNvSpPr>
            <a:spLocks noGrp="1"/>
          </p:cNvSpPr>
          <p:nvPr/>
        </p:nvSpPr>
        <p:spPr>
          <a:xfrm>
            <a:off x="832104" y="2779775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billing_import_errors(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error_id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batch_id (FK), raw_row_index, raw_payload, error_code, error_message, rejected_at)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3DABDAC-3478-4EDA-8CF7-DB93D3840DEC}"/>
              </a:ext>
            </a:extLst>
          </p:cNvPr>
          <p:cNvSpPr>
            <a:spLocks noGrp="1"/>
          </p:cNvSpPr>
          <p:nvPr/>
        </p:nvSpPr>
        <p:spPr>
          <a:xfrm>
            <a:off x="685800" y="3364991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3FB7C8-8D04-4F48-AC49-E9DE904F7665}"/>
              </a:ext>
            </a:extLst>
          </p:cNvPr>
          <p:cNvSpPr>
            <a:spLocks noGrp="1"/>
          </p:cNvSpPr>
          <p:nvPr/>
        </p:nvSpPr>
        <p:spPr>
          <a:xfrm>
            <a:off x="685800" y="3364991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33F73-1141-4420-BA74-822DFA9688EF}"/>
              </a:ext>
            </a:extLst>
          </p:cNvPr>
          <p:cNvSpPr>
            <a:spLocks noGrp="1"/>
          </p:cNvSpPr>
          <p:nvPr/>
        </p:nvSpPr>
        <p:spPr>
          <a:xfrm>
            <a:off x="832104" y="3428999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billing_records(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billing_id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usage_start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account_id (FK), resource_id (FK, nullable), project_id (FK, nullable), source_batch_id (FK), service_name, usage_end, usage_quantity, billed_cost, currency_code)  — composite PK; partitioned by usage_start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0837CD6-E900-447A-8A1A-B60287AAB142}"/>
              </a:ext>
            </a:extLst>
          </p:cNvPr>
          <p:cNvSpPr>
            <a:spLocks noGrp="1"/>
          </p:cNvSpPr>
          <p:nvPr/>
        </p:nvSpPr>
        <p:spPr>
          <a:xfrm>
            <a:off x="685800" y="4014215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6822AB-C8E6-4A92-B582-5A7CE6ED4D4E}"/>
              </a:ext>
            </a:extLst>
          </p:cNvPr>
          <p:cNvSpPr>
            <a:spLocks noGrp="1"/>
          </p:cNvSpPr>
          <p:nvPr/>
        </p:nvSpPr>
        <p:spPr>
          <a:xfrm>
            <a:off x="685800" y="4014215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2F8DD4-725F-474C-8340-6E9E3FFF8D4B}"/>
              </a:ext>
            </a:extLst>
          </p:cNvPr>
          <p:cNvSpPr>
            <a:spLocks noGrp="1"/>
          </p:cNvSpPr>
          <p:nvPr/>
        </p:nvSpPr>
        <p:spPr>
          <a:xfrm>
            <a:off x="832104" y="4078224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metric_types(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metric_type_id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metric_name (UK), unit, aggregation_method)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2D97BB-FC63-45AC-9586-BA482DCC2C55}"/>
              </a:ext>
            </a:extLst>
          </p:cNvPr>
          <p:cNvSpPr>
            <a:spLocks noGrp="1"/>
          </p:cNvSpPr>
          <p:nvPr/>
        </p:nvSpPr>
        <p:spPr>
          <a:xfrm>
            <a:off x="685800" y="4663440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435628-FAC3-4E08-83DE-3C1B64910A6A}"/>
              </a:ext>
            </a:extLst>
          </p:cNvPr>
          <p:cNvSpPr>
            <a:spLocks noGrp="1"/>
          </p:cNvSpPr>
          <p:nvPr/>
        </p:nvSpPr>
        <p:spPr>
          <a:xfrm>
            <a:off x="685800" y="4663440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6D9405-430C-4405-A36E-8831EDA42962}"/>
              </a:ext>
            </a:extLst>
          </p:cNvPr>
          <p:cNvSpPr>
            <a:spLocks noGrp="1"/>
          </p:cNvSpPr>
          <p:nvPr/>
        </p:nvSpPr>
        <p:spPr>
          <a:xfrm>
            <a:off x="832104" y="4727448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usage_metrics(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measured_at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resource_id (FK), metric_type_id (FK), metric_value)  — composite PK; partitioned by measured_at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71783A5-9613-44F1-8A4E-A9FE8797BFC6}"/>
              </a:ext>
            </a:extLst>
          </p:cNvPr>
          <p:cNvSpPr>
            <a:spLocks noGrp="1"/>
          </p:cNvSpPr>
          <p:nvPr/>
        </p:nvSpPr>
        <p:spPr>
          <a:xfrm>
            <a:off x="685800" y="5312664"/>
            <a:ext cx="10835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17972B-73CA-484F-AE61-4EEC18E98245}"/>
              </a:ext>
            </a:extLst>
          </p:cNvPr>
          <p:cNvSpPr>
            <a:spLocks noGrp="1"/>
          </p:cNvSpPr>
          <p:nvPr/>
        </p:nvSpPr>
        <p:spPr>
          <a:xfrm>
            <a:off x="685800" y="5312664"/>
            <a:ext cx="54864" cy="566928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D30E45-AFB1-45D5-861B-B67BEE3BF3FC}"/>
              </a:ext>
            </a:extLst>
          </p:cNvPr>
          <p:cNvSpPr>
            <a:spLocks noGrp="1"/>
          </p:cNvSpPr>
          <p:nvPr/>
        </p:nvSpPr>
        <p:spPr>
          <a:xfrm>
            <a:off x="832104" y="5376672"/>
            <a:ext cx="10588752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resource_daily_summaries(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resource_id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metric_type_id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 (FK), 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summary_date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) — composite PK, avg_value, max_value, min_value, sample_count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2D6AC-767F-4650-B5EC-E9B51398B874}"/>
              </a:ext>
            </a:extLst>
          </p:cNvPr>
          <p:cNvSpPr>
            <a:spLocks noGrp="1"/>
          </p:cNvSpPr>
          <p:nvPr/>
        </p:nvSpPr>
        <p:spPr>
          <a:xfrm>
            <a:off x="713232" y="6291072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Composite PKs underline every component. Partitioned fact tables include the time column in the PK.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A3FEDE-D289-408D-816B-4B86D8FCDA38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288088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88F82F-A707-47DE-BDE0-D175012D5D32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F2039"/>
                </a:solidFill>
                <a:latin typeface="Aptos"/>
                <a:ea typeface="Aptos"/>
                <a:cs typeface="Aptos"/>
              </a:rPr>
              <a:t>Relational schema — 4/4  OPTIMIZATION, BUDGETS &amp;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42CF4-8E22-4886-8869-75F288F1675D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Primary keys are underlined; foreign and unique keys are explicitly labelled.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438C2-5A38-49DB-9A7A-837CF4E5C93D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48780-AB03-4624-9713-3E85770AF07F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32962C-BF0F-4CB2-B0EE-36D470BD3204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C44AE-ECC3-47CD-94B6-51D895195370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D0F4D-8D4F-4BC8-B859-5807DB1D7869}"/>
              </a:ext>
            </a:extLst>
          </p:cNvPr>
          <p:cNvSpPr>
            <a:spLocks noGrp="1"/>
          </p:cNvSpPr>
          <p:nvPr/>
        </p:nvSpPr>
        <p:spPr>
          <a:xfrm>
            <a:off x="832104" y="1481328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optimization_rules(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rule_id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rule_name (UK), rule_type, description, severity, is_active, parameters)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8E4902-A7C2-4832-8926-AB35185D8EC7}"/>
              </a:ext>
            </a:extLst>
          </p:cNvPr>
          <p:cNvSpPr>
            <a:spLocks noGrp="1"/>
          </p:cNvSpPr>
          <p:nvPr/>
        </p:nvSpPr>
        <p:spPr>
          <a:xfrm>
            <a:off x="685800" y="1905609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B4EBE-01AB-4162-87EC-C93457B96958}"/>
              </a:ext>
            </a:extLst>
          </p:cNvPr>
          <p:cNvSpPr>
            <a:spLocks noGrp="1"/>
          </p:cNvSpPr>
          <p:nvPr/>
        </p:nvSpPr>
        <p:spPr>
          <a:xfrm>
            <a:off x="685800" y="1905609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CB32F-9CA4-4DC5-95DD-3B43438DAE4C}"/>
              </a:ext>
            </a:extLst>
          </p:cNvPr>
          <p:cNvSpPr>
            <a:spLocks noGrp="1"/>
          </p:cNvSpPr>
          <p:nvPr/>
        </p:nvSpPr>
        <p:spPr>
          <a:xfrm>
            <a:off x="832104" y="1969617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rule_id (FK), resource_id (FK), project_id (FK), recommendation_type, problem_description, suggested_action, estimated_monthly_saving, risk_level, status, detected_at, expires_at)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75F286-F38B-4B6E-9EBC-C1E5E8D92AE4}"/>
              </a:ext>
            </a:extLst>
          </p:cNvPr>
          <p:cNvSpPr>
            <a:spLocks noGrp="1"/>
          </p:cNvSpPr>
          <p:nvPr/>
        </p:nvSpPr>
        <p:spPr>
          <a:xfrm>
            <a:off x="685800" y="2393899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BC916-8CDB-4A94-8062-5D2E3C1240AF}"/>
              </a:ext>
            </a:extLst>
          </p:cNvPr>
          <p:cNvSpPr>
            <a:spLocks noGrp="1"/>
          </p:cNvSpPr>
          <p:nvPr/>
        </p:nvSpPr>
        <p:spPr>
          <a:xfrm>
            <a:off x="685800" y="2393899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7F911A-179D-4D07-9F2A-1995D13D779A}"/>
              </a:ext>
            </a:extLst>
          </p:cNvPr>
          <p:cNvSpPr>
            <a:spLocks noGrp="1"/>
          </p:cNvSpPr>
          <p:nvPr/>
        </p:nvSpPr>
        <p:spPr>
          <a:xfrm>
            <a:off x="832104" y="2457907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recommendation_evidence(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evidence_id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 (FK), metric_type_id (FK, nullable), observation_start, observation_end, observed_value, threshold_value, narrative)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78FF2F-EC39-4DB4-91C0-B36A7A348C19}"/>
              </a:ext>
            </a:extLst>
          </p:cNvPr>
          <p:cNvSpPr>
            <a:spLocks noGrp="1"/>
          </p:cNvSpPr>
          <p:nvPr/>
        </p:nvSpPr>
        <p:spPr>
          <a:xfrm>
            <a:off x="685800" y="2882188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0A3ACE-78AC-40C1-8265-9F5BAA03E492}"/>
              </a:ext>
            </a:extLst>
          </p:cNvPr>
          <p:cNvSpPr>
            <a:spLocks noGrp="1"/>
          </p:cNvSpPr>
          <p:nvPr/>
        </p:nvSpPr>
        <p:spPr>
          <a:xfrm>
            <a:off x="685800" y="2882188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A2580-FF2C-4661-A29E-A3B6A044787E}"/>
              </a:ext>
            </a:extLst>
          </p:cNvPr>
          <p:cNvSpPr>
            <a:spLocks noGrp="1"/>
          </p:cNvSpPr>
          <p:nvPr/>
        </p:nvSpPr>
        <p:spPr>
          <a:xfrm>
            <a:off x="832104" y="2946196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approval_requests(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approval_id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 (FK), requested_by (FK), reviewed_by (FK, nullable), decision, comments, requested_at, reviewed_at)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18D0DE2-8F76-4A0A-9F4F-C0D6F5681DA8}"/>
              </a:ext>
            </a:extLst>
          </p:cNvPr>
          <p:cNvSpPr>
            <a:spLocks noGrp="1"/>
          </p:cNvSpPr>
          <p:nvPr/>
        </p:nvSpPr>
        <p:spPr>
          <a:xfrm>
            <a:off x="685800" y="3370478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8537B4-3A02-4D02-90CA-54D50CD3D11E}"/>
              </a:ext>
            </a:extLst>
          </p:cNvPr>
          <p:cNvSpPr>
            <a:spLocks noGrp="1"/>
          </p:cNvSpPr>
          <p:nvPr/>
        </p:nvSpPr>
        <p:spPr>
          <a:xfrm>
            <a:off x="685800" y="3370478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EBB0F-8C23-4FA1-8AF8-5744C2E67195}"/>
              </a:ext>
            </a:extLst>
          </p:cNvPr>
          <p:cNvSpPr>
            <a:spLocks noGrp="1"/>
          </p:cNvSpPr>
          <p:nvPr/>
        </p:nvSpPr>
        <p:spPr>
          <a:xfrm>
            <a:off x="832104" y="3434486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recommendation_status_history(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history_id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 (FK), changed_by (FK), old_status, new_status, changed_at, reason)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F45766-17C9-4F75-9633-B575982E6ACE}"/>
              </a:ext>
            </a:extLst>
          </p:cNvPr>
          <p:cNvSpPr>
            <a:spLocks noGrp="1"/>
          </p:cNvSpPr>
          <p:nvPr/>
        </p:nvSpPr>
        <p:spPr>
          <a:xfrm>
            <a:off x="685800" y="3858768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4CDDC1-90FB-4E2B-B075-54709CA82D9F}"/>
              </a:ext>
            </a:extLst>
          </p:cNvPr>
          <p:cNvSpPr>
            <a:spLocks noGrp="1"/>
          </p:cNvSpPr>
          <p:nvPr/>
        </p:nvSpPr>
        <p:spPr>
          <a:xfrm>
            <a:off x="685800" y="3858768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8C14B-BC8A-4E47-BB10-0F0EA1E210FA}"/>
              </a:ext>
            </a:extLst>
          </p:cNvPr>
          <p:cNvSpPr>
            <a:spLocks noGrp="1"/>
          </p:cNvSpPr>
          <p:nvPr/>
        </p:nvSpPr>
        <p:spPr>
          <a:xfrm>
            <a:off x="832104" y="3922776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recommendation_actions(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action_id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 (FK), executed_by (FK), action_type, execution_status, started_at, completed_at, error_payload)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2DF5242-4238-4F10-BA84-C28BE59F6688}"/>
              </a:ext>
            </a:extLst>
          </p:cNvPr>
          <p:cNvSpPr>
            <a:spLocks noGrp="1"/>
          </p:cNvSpPr>
          <p:nvPr/>
        </p:nvSpPr>
        <p:spPr>
          <a:xfrm>
            <a:off x="685800" y="4347057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A479E2-4569-4D8D-B2C9-67C037FE4E1E}"/>
              </a:ext>
            </a:extLst>
          </p:cNvPr>
          <p:cNvSpPr>
            <a:spLocks noGrp="1"/>
          </p:cNvSpPr>
          <p:nvPr/>
        </p:nvSpPr>
        <p:spPr>
          <a:xfrm>
            <a:off x="685800" y="4347057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EE8CA9-46F5-436B-88A3-EBDB479A5F7D}"/>
              </a:ext>
            </a:extLst>
          </p:cNvPr>
          <p:cNvSpPr>
            <a:spLocks noGrp="1"/>
          </p:cNvSpPr>
          <p:nvPr/>
        </p:nvSpPr>
        <p:spPr>
          <a:xfrm>
            <a:off x="832104" y="4411065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savings_realization(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realization_id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recommendation_id (FK, UK), baseline_monthly_cost, actual_monthly_cost, estimated_saving, actual_saving, realization_percentage, measurement_start, measurement_end, calculated_at)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B20FBE2-E714-485D-AEB3-E6EC32D61513}"/>
              </a:ext>
            </a:extLst>
          </p:cNvPr>
          <p:cNvSpPr>
            <a:spLocks noGrp="1"/>
          </p:cNvSpPr>
          <p:nvPr/>
        </p:nvSpPr>
        <p:spPr>
          <a:xfrm>
            <a:off x="685800" y="4835347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8E1D49-7965-44D2-B39C-E3438D3AA375}"/>
              </a:ext>
            </a:extLst>
          </p:cNvPr>
          <p:cNvSpPr>
            <a:spLocks noGrp="1"/>
          </p:cNvSpPr>
          <p:nvPr/>
        </p:nvSpPr>
        <p:spPr>
          <a:xfrm>
            <a:off x="685800" y="4835347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57444C-713E-44BE-8751-BA041B9E031C}"/>
              </a:ext>
            </a:extLst>
          </p:cNvPr>
          <p:cNvSpPr>
            <a:spLocks noGrp="1"/>
          </p:cNvSpPr>
          <p:nvPr/>
        </p:nvSpPr>
        <p:spPr>
          <a:xfrm>
            <a:off x="832104" y="4899355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budgets(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budget_id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project_id (FK, nullable), team_id (FK, nullable), budget_month, budget_amount, warning_percentage)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9657A6B-7620-4E8A-9884-964288B903E9}"/>
              </a:ext>
            </a:extLst>
          </p:cNvPr>
          <p:cNvSpPr>
            <a:spLocks noGrp="1"/>
          </p:cNvSpPr>
          <p:nvPr/>
        </p:nvSpPr>
        <p:spPr>
          <a:xfrm>
            <a:off x="685800" y="5323636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EA7905-B868-4B11-AE10-2E1A693FB49B}"/>
              </a:ext>
            </a:extLst>
          </p:cNvPr>
          <p:cNvSpPr>
            <a:spLocks noGrp="1"/>
          </p:cNvSpPr>
          <p:nvPr/>
        </p:nvSpPr>
        <p:spPr>
          <a:xfrm>
            <a:off x="685800" y="5323636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66BD5B-E988-45AA-9DE4-771E5F6386EF}"/>
              </a:ext>
            </a:extLst>
          </p:cNvPr>
          <p:cNvSpPr>
            <a:spLocks noGrp="1"/>
          </p:cNvSpPr>
          <p:nvPr/>
        </p:nvSpPr>
        <p:spPr>
          <a:xfrm>
            <a:off x="832104" y="5387644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budget_alerts(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alert_id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budget_id (FK), triggered_at, threshold_percentage_reached, current_spend, budget_amount, is_acknowledged)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1DCD9A5-56A8-4476-9F50-96D35519F89F}"/>
              </a:ext>
            </a:extLst>
          </p:cNvPr>
          <p:cNvSpPr>
            <a:spLocks noGrp="1"/>
          </p:cNvSpPr>
          <p:nvPr/>
        </p:nvSpPr>
        <p:spPr>
          <a:xfrm>
            <a:off x="685800" y="5811926"/>
            <a:ext cx="10835640" cy="4059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E0F782-E737-4222-B90A-B927AC164A96}"/>
              </a:ext>
            </a:extLst>
          </p:cNvPr>
          <p:cNvSpPr>
            <a:spLocks noGrp="1"/>
          </p:cNvSpPr>
          <p:nvPr/>
        </p:nvSpPr>
        <p:spPr>
          <a:xfrm>
            <a:off x="685800" y="5811926"/>
            <a:ext cx="54864" cy="405993"/>
          </a:xfrm>
          <a:prstGeom prst="rect">
            <a:avLst/>
          </a:prstGeom>
          <a:solidFill>
            <a:srgbClr val="E7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56A2C5-57F0-4F59-A2A7-0D5A8BD16236}"/>
              </a:ext>
            </a:extLst>
          </p:cNvPr>
          <p:cNvSpPr>
            <a:spLocks noGrp="1"/>
          </p:cNvSpPr>
          <p:nvPr/>
        </p:nvSpPr>
        <p:spPr>
          <a:xfrm>
            <a:off x="832104" y="5875934"/>
            <a:ext cx="10588752" cy="29626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audit_logs(</a:t>
            </a:r>
            <a:r>
              <a:rPr sz="1019" b="0" u="sng">
                <a:solidFill>
                  <a:srgbClr val="202F42"/>
                </a:solidFill>
                <a:latin typeface="Aptos"/>
                <a:ea typeface="Aptos"/>
                <a:cs typeface="Aptos"/>
              </a:rPr>
              <a:t>audit_id</a:t>
            </a:r>
            <a:r>
              <a:rPr sz="1019" b="0" u="none">
                <a:solidFill>
                  <a:srgbClr val="202F42"/>
                </a:solidFill>
                <a:latin typeface="Aptos"/>
                <a:ea typeface="Aptos"/>
                <a:cs typeface="Aptos"/>
              </a:rPr>
              <a:t>, user_id (FK, nullable), action_type, entity_type, entity_id, old_state, new_state, action_timestamp, client_ip)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679309-3E6E-4339-A6F3-44E681B6E131}"/>
              </a:ext>
            </a:extLst>
          </p:cNvPr>
          <p:cNvSpPr>
            <a:spLocks noGrp="1"/>
          </p:cNvSpPr>
          <p:nvPr/>
        </p:nvSpPr>
        <p:spPr>
          <a:xfrm>
            <a:off x="713232" y="6291072"/>
            <a:ext cx="10698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B6C81"/>
                </a:solidFill>
                <a:latin typeface="Aptos"/>
                <a:ea typeface="Aptos"/>
                <a:cs typeface="Aptos"/>
              </a:rPr>
              <a:t>Composite PKs underline every component. Partitioned fact tables include the time column in the PK.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DDAFD-4880-41E9-BCEC-703D5039F873}"/>
              </a:ext>
            </a:extLst>
          </p:cNvPr>
          <p:cNvSpPr>
            <a:spLocks noGrp="1"/>
          </p:cNvSpPr>
          <p:nvPr/>
        </p:nvSpPr>
        <p:spPr>
          <a:xfrm>
            <a:off x="603504" y="65105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5B6C81"/>
                </a:solidFill>
                <a:latin typeface="Aptos"/>
                <a:ea typeface="Aptos"/>
                <a:cs typeface="Aptos"/>
              </a:rPr>
              <a:t>CLOUDBILLS  |  SIH / FORUM PITCH</a:t>
            </a:r>
          </a:p>
        </p:txBody>
      </p:sp>
    </p:spTree>
    <p:extLst>
      <p:ext uri="{BB962C8B-B14F-4D97-AF65-F5344CB8AC3E}">
        <p14:creationId xmlns:p14="http://schemas.microsoft.com/office/powerpoint/2010/main" val="50692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DDF5F-9BE8-45AB-BB9B-3A9EAB2764D3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clouDBills is more than a cost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70CAD-9F77-4C20-9B07-A0AFB2258BF3}"/>
              </a:ext>
            </a:extLst>
          </p:cNvPr>
          <p:cNvSpPr>
            <a:spLocks noGrp="1"/>
          </p:cNvSpPr>
          <p:nvPr/>
        </p:nvSpPr>
        <p:spPr>
          <a:xfrm>
            <a:off x="603504" y="75895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CB0BE"/>
                </a:solidFill>
                <a:latin typeface="Aptos"/>
                <a:ea typeface="Aptos"/>
                <a:cs typeface="Aptos"/>
              </a:rPr>
              <a:t>It combines financial visibility with relational integrity and controlled 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8AE33-983F-46BE-B844-D4589DE9E110}"/>
              </a:ext>
            </a:extLst>
          </p:cNvPr>
          <p:cNvSpPr>
            <a:spLocks noGrp="1"/>
          </p:cNvSpPr>
          <p:nvPr/>
        </p:nvSpPr>
        <p:spPr>
          <a:xfrm>
            <a:off x="603504" y="1170432"/>
            <a:ext cx="749808" cy="50292"/>
          </a:xfrm>
          <a:prstGeom prst="rect">
            <a:avLst/>
          </a:prstGeom>
          <a:solidFill>
            <a:srgbClr val="2C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69580-F0F4-4595-A7BD-DA77B6470DE4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1BF250-F9B0-4C7B-999D-F19A9993D472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3429000" cy="1874519"/>
          </a:xfrm>
          <a:prstGeom prst="roundRect">
            <a:avLst/>
          </a:prstGeom>
          <a:solidFill>
            <a:srgbClr val="192F4E"/>
          </a:solidFill>
          <a:ln w="10160">
            <a:solidFill>
              <a:srgbClr val="385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EF738-BB88-4F31-97B8-481FED5D07DB}"/>
              </a:ext>
            </a:extLst>
          </p:cNvPr>
          <p:cNvSpPr>
            <a:spLocks noGrp="1"/>
          </p:cNvSpPr>
          <p:nvPr/>
        </p:nvSpPr>
        <p:spPr>
          <a:xfrm>
            <a:off x="914400" y="2075688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3DBC0-6671-431B-B2EA-0CE3C416AA9C}"/>
              </a:ext>
            </a:extLst>
          </p:cNvPr>
          <p:cNvSpPr>
            <a:spLocks noGrp="1"/>
          </p:cNvSpPr>
          <p:nvPr/>
        </p:nvSpPr>
        <p:spPr>
          <a:xfrm>
            <a:off x="960120" y="2578608"/>
            <a:ext cx="297180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300" b="0">
                <a:solidFill>
                  <a:srgbClr val="D8E2EF"/>
                </a:solidFill>
                <a:latin typeface="Aptos"/>
                <a:ea typeface="Aptos"/>
                <a:cs typeface="Aptos"/>
              </a:rPr>
              <a:t>Every cost record can be connected to an account, resource and project where attribution is available.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4E8B74-B814-4F16-AD6E-F2E0BBA21DE4}"/>
              </a:ext>
            </a:extLst>
          </p:cNvPr>
          <p:cNvSpPr>
            <a:spLocks noGrp="1"/>
          </p:cNvSpPr>
          <p:nvPr/>
        </p:nvSpPr>
        <p:spPr>
          <a:xfrm>
            <a:off x="4572000" y="1828800"/>
            <a:ext cx="3429000" cy="1874519"/>
          </a:xfrm>
          <a:prstGeom prst="roundRect">
            <a:avLst/>
          </a:prstGeom>
          <a:solidFill>
            <a:srgbClr val="192F4E"/>
          </a:solidFill>
          <a:ln w="10160">
            <a:solidFill>
              <a:srgbClr val="385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FB6D7-F663-4E1F-BE6B-43731992AADB}"/>
              </a:ext>
            </a:extLst>
          </p:cNvPr>
          <p:cNvSpPr>
            <a:spLocks noGrp="1"/>
          </p:cNvSpPr>
          <p:nvPr/>
        </p:nvSpPr>
        <p:spPr>
          <a:xfrm>
            <a:off x="4754880" y="2075688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Safer optimization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30C89-F1B1-49A0-A0CF-5DCFC39E7372}"/>
              </a:ext>
            </a:extLst>
          </p:cNvPr>
          <p:cNvSpPr>
            <a:spLocks noGrp="1"/>
          </p:cNvSpPr>
          <p:nvPr/>
        </p:nvSpPr>
        <p:spPr>
          <a:xfrm>
            <a:off x="4800600" y="2578608"/>
            <a:ext cx="297180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300" b="0">
                <a:solidFill>
                  <a:srgbClr val="D8E2EF"/>
                </a:solidFill>
                <a:latin typeface="Aptos"/>
                <a:ea typeface="Aptos"/>
                <a:cs typeface="Aptos"/>
              </a:rPr>
              <a:t>Dependencies and approval state are considered before actions move forward.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6E8763-050D-40B3-828A-789DE1E3AC3C}"/>
              </a:ext>
            </a:extLst>
          </p:cNvPr>
          <p:cNvSpPr>
            <a:spLocks noGrp="1"/>
          </p:cNvSpPr>
          <p:nvPr/>
        </p:nvSpPr>
        <p:spPr>
          <a:xfrm>
            <a:off x="8412480" y="1828800"/>
            <a:ext cx="3429000" cy="1874519"/>
          </a:xfrm>
          <a:prstGeom prst="roundRect">
            <a:avLst/>
          </a:prstGeom>
          <a:solidFill>
            <a:srgbClr val="192F4E"/>
          </a:solidFill>
          <a:ln w="10160">
            <a:solidFill>
              <a:srgbClr val="385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63E76-5B9B-4124-B6D8-F22A2BAEFD02}"/>
              </a:ext>
            </a:extLst>
          </p:cNvPr>
          <p:cNvSpPr>
            <a:spLocks noGrp="1"/>
          </p:cNvSpPr>
          <p:nvPr/>
        </p:nvSpPr>
        <p:spPr>
          <a:xfrm>
            <a:off x="8595360" y="2075688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Accountability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3784-6229-4ACC-92BD-DC438319D349}"/>
              </a:ext>
            </a:extLst>
          </p:cNvPr>
          <p:cNvSpPr>
            <a:spLocks noGrp="1"/>
          </p:cNvSpPr>
          <p:nvPr/>
        </p:nvSpPr>
        <p:spPr>
          <a:xfrm>
            <a:off x="8641080" y="2578608"/>
            <a:ext cx="297180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300" b="0">
                <a:solidFill>
                  <a:srgbClr val="D8E2EF"/>
                </a:solidFill>
                <a:latin typeface="Aptos"/>
                <a:ea typeface="Aptos"/>
                <a:cs typeface="Aptos"/>
              </a:rPr>
              <a:t>The system records decisions, actions and actual savings—not only suggested savings.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CF4C180-DBA0-4250-B021-8C6B8EB1A1FD}"/>
              </a:ext>
            </a:extLst>
          </p:cNvPr>
          <p:cNvSpPr>
            <a:spLocks noGrp="1"/>
          </p:cNvSpPr>
          <p:nvPr/>
        </p:nvSpPr>
        <p:spPr>
          <a:xfrm>
            <a:off x="960120" y="4343400"/>
            <a:ext cx="10241280" cy="841248"/>
          </a:xfrm>
          <a:prstGeom prst="roundRect">
            <a:avLst/>
          </a:prstGeom>
          <a:solidFill>
            <a:srgbClr val="192F4E"/>
          </a:solidFill>
          <a:ln w="10160">
            <a:solidFill>
              <a:srgbClr val="385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063B2-7886-4E3D-A89D-250F0A289552}"/>
              </a:ext>
            </a:extLst>
          </p:cNvPr>
          <p:cNvSpPr>
            <a:spLocks noGrp="1"/>
          </p:cNvSpPr>
          <p:nvPr/>
        </p:nvSpPr>
        <p:spPr>
          <a:xfrm>
            <a:off x="1188720" y="4553712"/>
            <a:ext cx="97840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2CB0BE"/>
                </a:solidFill>
                <a:latin typeface="Aptos"/>
                <a:ea typeface="Aptos"/>
                <a:cs typeface="Aptos"/>
              </a:rPr>
              <a:t>Find the waste. Explain the evidence. Control the decision. Prove the savings.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91F0B6-4F3B-456A-B970-9D9147CDC055}"/>
              </a:ext>
            </a:extLst>
          </p:cNvPr>
          <p:cNvSpPr>
            <a:spLocks noGrp="1"/>
          </p:cNvSpPr>
          <p:nvPr/>
        </p:nvSpPr>
        <p:spPr>
          <a:xfrm>
            <a:off x="749808" y="6172200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buNone/>
            </a:pPr>
            <a:r>
              <a:rPr sz="900" b="0">
                <a:solidFill>
                  <a:srgbClr val="A9BED6"/>
                </a:solidFill>
                <a:latin typeface="Aptos"/>
                <a:ea typeface="Aptos"/>
                <a:cs typeface="Aptos"/>
              </a:rPr>
              <a:t>Source basis: clouDBills_Architecture_v2.md • relational_schema.md • schema.sql • supplied ER diagram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5880E8-D398-42B8-B55E-CFADBEDF7C27}"/>
              </a:ext>
            </a:extLst>
          </p:cNvPr>
          <p:cNvSpPr>
            <a:spLocks noGrp="1"/>
          </p:cNvSpPr>
          <p:nvPr/>
        </p:nvSpPr>
        <p:spPr>
          <a:xfrm>
            <a:off x="11292840" y="652881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buNone/>
            </a:pPr>
            <a:r>
              <a:rPr sz="800" b="1">
                <a:solidFill>
                  <a:srgbClr val="96A5B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90835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3970</Words>
  <Application>Microsoft Office PowerPoint</Application>
  <DocSecurity>0</DocSecurity>
  <PresentationFormat>Widescreen</PresentationFormat>
  <Paragraphs>311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GOKUL R</cp:lastModifiedBy>
  <cp:revision>2</cp:revision>
  <dcterms:created xsi:type="dcterms:W3CDTF">2026-10-20T16:10:31Z</dcterms:created>
  <dcterms:modified xsi:type="dcterms:W3CDTF">2026-10-20T16:41:02Z</dcterms:modified>
</cp:coreProperties>
</file>